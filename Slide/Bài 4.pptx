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12"/>
  </p:notesMasterIdLst>
  <p:sldIdLst>
    <p:sldId id="256" r:id="rId2"/>
    <p:sldId id="257" r:id="rId3"/>
    <p:sldId id="260" r:id="rId4"/>
    <p:sldId id="422" r:id="rId5"/>
    <p:sldId id="423" r:id="rId6"/>
    <p:sldId id="424" r:id="rId7"/>
    <p:sldId id="267" r:id="rId8"/>
    <p:sldId id="426" r:id="rId9"/>
    <p:sldId id="425" r:id="rId10"/>
    <p:sldId id="427" r:id="rId11"/>
  </p:sldIdLst>
  <p:sldSz cx="12192000" cy="6858000"/>
  <p:notesSz cx="6858000" cy="9144000"/>
  <p:embeddedFontLst>
    <p:embeddedFont>
      <p:font typeface="Trebuchet MS" panose="020B0603020202020204" pitchFamily="34"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Impact" panose="020B0806030902050204" pitchFamily="34" charset="0"/>
      <p:regular r:id="rId21"/>
    </p:embeddedFont>
    <p:embeddedFont>
      <p:font typeface="Wingdings 3" panose="05040102010807070707" pitchFamily="18" charset="2"/>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0" roundtripDataSignature="AMtx7mhrTw11pZgumZFE/jrXWOBqTLd8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1F6B73-016E-4EF7-82AD-10CAB8160629}">
  <a:tblStyle styleId="{791F6B73-016E-4EF7-82AD-10CAB81606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94660"/>
  </p:normalViewPr>
  <p:slideViewPr>
    <p:cSldViewPr snapToGrid="0">
      <p:cViewPr varScale="1">
        <p:scale>
          <a:sx n="86" d="100"/>
          <a:sy n="86" d="100"/>
        </p:scale>
        <p:origin x="72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163"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16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60"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7.fntdata"/><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F35DBE99-AF6E-F139-D843-DE1F3EF8D3D9}"/>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F7795E12-E2A5-30F0-5904-2358C75E31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0566A5F8-6CB6-E556-DFB3-CD049FAC01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2887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C76AF73-01C9-22B9-67C2-46E11BE70608}"/>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C23CE287-FC9E-09AF-62E6-B17D2E6896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82726FE6-5976-EE0C-E3C2-F199A92162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1860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C76AF73-01C9-22B9-67C2-46E11BE70608}"/>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C23CE287-FC9E-09AF-62E6-B17D2E6896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82726FE6-5976-EE0C-E3C2-F199A92162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665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3232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7074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0953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956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006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20658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6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34046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6534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616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55933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85595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701303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911702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65960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8741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34680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82070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210443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6339700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4" name="Google Shape;64;p1"/>
          <p:cNvSpPr txBox="1"/>
          <p:nvPr/>
        </p:nvSpPr>
        <p:spPr>
          <a:xfrm>
            <a:off x="1676400" y="2819400"/>
            <a:ext cx="8915400"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0" i="0" u="none" strike="noStrike" cap="none" dirty="0">
                <a:solidFill>
                  <a:srgbClr val="154A8D"/>
                </a:solidFill>
                <a:latin typeface="Arial"/>
                <a:ea typeface="Arial"/>
                <a:cs typeface="Arial"/>
                <a:sym typeface="Arial"/>
              </a:rPr>
              <a:t>Java Backend</a:t>
            </a:r>
            <a:endParaRPr sz="6000" b="0" i="0" u="none" strike="noStrike" cap="none" dirty="0">
              <a:solidFill>
                <a:srgbClr val="154A8D"/>
              </a:solidFill>
              <a:latin typeface="Arial"/>
              <a:ea typeface="Arial"/>
              <a:cs typeface="Arial"/>
              <a:sym typeface="Arial"/>
            </a:endParaRPr>
          </a:p>
        </p:txBody>
      </p:sp>
      <p:pic>
        <p:nvPicPr>
          <p:cNvPr id="66" name="Google Shape;66;p1"/>
          <p:cNvPicPr preferRelativeResize="0"/>
          <p:nvPr/>
        </p:nvPicPr>
        <p:blipFill rotWithShape="1">
          <a:blip r:embed="rId3">
            <a:alphaModFix/>
          </a:blip>
          <a:srcRect/>
          <a:stretch/>
        </p:blipFill>
        <p:spPr>
          <a:xfrm>
            <a:off x="5162022" y="914400"/>
            <a:ext cx="7445124" cy="50292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5" name="Google Shape;75;p2"/>
          <p:cNvGrpSpPr/>
          <p:nvPr/>
        </p:nvGrpSpPr>
        <p:grpSpPr>
          <a:xfrm>
            <a:off x="358627" y="2689935"/>
            <a:ext cx="1930140" cy="1756753"/>
            <a:chOff x="2553093" y="952901"/>
            <a:chExt cx="2096908" cy="1866900"/>
          </a:xfrm>
        </p:grpSpPr>
        <p:sp>
          <p:nvSpPr>
            <p:cNvPr id="76" name="Google Shape;76;p2"/>
            <p:cNvSpPr/>
            <p:nvPr/>
          </p:nvSpPr>
          <p:spPr>
            <a:xfrm>
              <a:off x="2553093" y="952901"/>
              <a:ext cx="1866900" cy="1866900"/>
            </a:xfrm>
            <a:prstGeom prst="ellipse">
              <a:avLst/>
            </a:prstGeom>
            <a:gradFill>
              <a:gsLst>
                <a:gs pos="0">
                  <a:srgbClr val="F5F5F5"/>
                </a:gs>
                <a:gs pos="100000">
                  <a:srgbClr val="D8D8D8"/>
                </a:gs>
              </a:gsLst>
              <a:lin ang="2700000" scaled="0"/>
            </a:gradFill>
            <a:ln w="2222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7" name="Google Shape;77;p2"/>
            <p:cNvSpPr/>
            <p:nvPr/>
          </p:nvSpPr>
          <p:spPr>
            <a:xfrm>
              <a:off x="3008704" y="1150504"/>
              <a:ext cx="1429346" cy="1429345"/>
            </a:xfrm>
            <a:prstGeom prst="ellipse">
              <a:avLst/>
            </a:prstGeom>
            <a:solidFill>
              <a:srgbClr val="F2F2F2"/>
            </a:solidFill>
            <a:ln w="222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8" name="Google Shape;78;p2"/>
            <p:cNvSpPr txBox="1"/>
            <p:nvPr/>
          </p:nvSpPr>
          <p:spPr>
            <a:xfrm>
              <a:off x="2783718" y="1324275"/>
              <a:ext cx="1866283" cy="127243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663A77"/>
                  </a:solidFill>
                  <a:latin typeface="Times New Roman"/>
                  <a:ea typeface="Times New Roman"/>
                  <a:cs typeface="Times New Roman"/>
                  <a:sym typeface="Times New Roman"/>
                </a:rPr>
                <a:t>NỘI DUNG</a:t>
              </a:r>
              <a:endParaRPr sz="2800" b="1" i="0" u="none" strike="noStrike" cap="none">
                <a:solidFill>
                  <a:srgbClr val="663A77"/>
                </a:solidFill>
                <a:latin typeface="Times New Roman"/>
                <a:ea typeface="Times New Roman"/>
                <a:cs typeface="Times New Roman"/>
                <a:sym typeface="Times New Roman"/>
              </a:endParaRPr>
            </a:p>
          </p:txBody>
        </p:sp>
      </p:grpSp>
      <p:grpSp>
        <p:nvGrpSpPr>
          <p:cNvPr id="79" name="Google Shape;79;p2"/>
          <p:cNvGrpSpPr/>
          <p:nvPr/>
        </p:nvGrpSpPr>
        <p:grpSpPr>
          <a:xfrm>
            <a:off x="2139124" y="1571215"/>
            <a:ext cx="805150" cy="718592"/>
            <a:chOff x="3262497" y="1084626"/>
            <a:chExt cx="1126854" cy="958123"/>
          </a:xfrm>
        </p:grpSpPr>
        <p:grpSp>
          <p:nvGrpSpPr>
            <p:cNvPr id="80" name="Google Shape;80;p2"/>
            <p:cNvGrpSpPr/>
            <p:nvPr/>
          </p:nvGrpSpPr>
          <p:grpSpPr>
            <a:xfrm>
              <a:off x="3262497" y="1084626"/>
              <a:ext cx="1126854" cy="958123"/>
              <a:chOff x="2892834" y="1141776"/>
              <a:chExt cx="1126854" cy="958123"/>
            </a:xfrm>
          </p:grpSpPr>
          <p:sp>
            <p:nvSpPr>
              <p:cNvPr id="81" name="Google Shape;81;p2"/>
              <p:cNvSpPr/>
              <p:nvPr/>
            </p:nvSpPr>
            <p:spPr>
              <a:xfrm>
                <a:off x="2943363" y="114177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2" name="Google Shape;82;p2"/>
              <p:cNvSpPr/>
              <p:nvPr/>
            </p:nvSpPr>
            <p:spPr>
              <a:xfrm>
                <a:off x="2892834" y="1178024"/>
                <a:ext cx="1063215" cy="901028"/>
              </a:xfrm>
              <a:prstGeom prst="roundRect">
                <a:avLst>
                  <a:gd name="adj" fmla="val 13889"/>
                </a:avLst>
              </a:prstGeom>
              <a:solidFill>
                <a:srgbClr val="FFB8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3" name="Google Shape;83;p2"/>
            <p:cNvSpPr txBox="1"/>
            <p:nvPr/>
          </p:nvSpPr>
          <p:spPr>
            <a:xfrm>
              <a:off x="3266480" y="1209433"/>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01</a:t>
              </a:r>
              <a:endParaRPr sz="2800" b="0" i="0" u="none" strike="noStrike" cap="none">
                <a:solidFill>
                  <a:schemeClr val="lt1"/>
                </a:solidFill>
                <a:latin typeface="Impact"/>
                <a:ea typeface="Impact"/>
                <a:cs typeface="Impact"/>
                <a:sym typeface="Impact"/>
              </a:endParaRPr>
            </a:p>
          </p:txBody>
        </p:sp>
      </p:grpSp>
      <p:grpSp>
        <p:nvGrpSpPr>
          <p:cNvPr id="84" name="Google Shape;84;p2"/>
          <p:cNvGrpSpPr/>
          <p:nvPr/>
        </p:nvGrpSpPr>
        <p:grpSpPr>
          <a:xfrm>
            <a:off x="2143179" y="2408314"/>
            <a:ext cx="801094" cy="803410"/>
            <a:chOff x="3142025" y="2335585"/>
            <a:chExt cx="1161462" cy="966191"/>
          </a:xfrm>
        </p:grpSpPr>
        <p:grpSp>
          <p:nvGrpSpPr>
            <p:cNvPr id="85" name="Google Shape;85;p2"/>
            <p:cNvGrpSpPr/>
            <p:nvPr/>
          </p:nvGrpSpPr>
          <p:grpSpPr>
            <a:xfrm>
              <a:off x="3155526" y="2335585"/>
              <a:ext cx="1147961" cy="966191"/>
              <a:chOff x="2785863" y="1141409"/>
              <a:chExt cx="1147961" cy="966191"/>
            </a:xfrm>
          </p:grpSpPr>
          <p:sp>
            <p:nvSpPr>
              <p:cNvPr id="86" name="Google Shape;86;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7" name="Google Shape;87;p2"/>
              <p:cNvSpPr/>
              <p:nvPr/>
            </p:nvSpPr>
            <p:spPr>
              <a:xfrm>
                <a:off x="2785863" y="1141409"/>
                <a:ext cx="1063215" cy="901028"/>
              </a:xfrm>
              <a:prstGeom prst="roundRect">
                <a:avLst>
                  <a:gd name="adj" fmla="val 13889"/>
                </a:avLst>
              </a:prstGeom>
              <a:solidFill>
                <a:srgbClr val="01ACB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8" name="Google Shape;88;p2"/>
            <p:cNvSpPr txBox="1"/>
            <p:nvPr/>
          </p:nvSpPr>
          <p:spPr>
            <a:xfrm>
              <a:off x="3142025" y="2450258"/>
              <a:ext cx="1088129" cy="6292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02</a:t>
              </a:r>
              <a:endParaRPr sz="2800" b="0" i="0" u="none" strike="noStrike" cap="none">
                <a:solidFill>
                  <a:schemeClr val="lt1"/>
                </a:solidFill>
                <a:latin typeface="Impact"/>
                <a:ea typeface="Impact"/>
                <a:cs typeface="Impact"/>
                <a:sym typeface="Impact"/>
              </a:endParaRPr>
            </a:p>
          </p:txBody>
        </p:sp>
      </p:grpSp>
      <p:grpSp>
        <p:nvGrpSpPr>
          <p:cNvPr id="89" name="Google Shape;89;p2"/>
          <p:cNvGrpSpPr/>
          <p:nvPr/>
        </p:nvGrpSpPr>
        <p:grpSpPr>
          <a:xfrm>
            <a:off x="2116678" y="3258986"/>
            <a:ext cx="787200" cy="718592"/>
            <a:chOff x="3227162" y="3591385"/>
            <a:chExt cx="1089578" cy="958123"/>
          </a:xfrm>
        </p:grpSpPr>
        <p:grpSp>
          <p:nvGrpSpPr>
            <p:cNvPr id="90" name="Google Shape;90;p2"/>
            <p:cNvGrpSpPr/>
            <p:nvPr/>
          </p:nvGrpSpPr>
          <p:grpSpPr>
            <a:xfrm>
              <a:off x="3227162" y="3591385"/>
              <a:ext cx="1089578" cy="958123"/>
              <a:chOff x="2857499" y="1149477"/>
              <a:chExt cx="1089578" cy="958123"/>
            </a:xfrm>
          </p:grpSpPr>
          <p:sp>
            <p:nvSpPr>
              <p:cNvPr id="91" name="Google Shape;91;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2" name="Google Shape;92;p2"/>
              <p:cNvSpPr/>
              <p:nvPr/>
            </p:nvSpPr>
            <p:spPr>
              <a:xfrm>
                <a:off x="2883862" y="1159582"/>
                <a:ext cx="1063215" cy="901028"/>
              </a:xfrm>
              <a:prstGeom prst="roundRect">
                <a:avLst>
                  <a:gd name="adj" fmla="val 13889"/>
                </a:avLst>
              </a:prstGeom>
              <a:solidFill>
                <a:srgbClr val="E870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93" name="Google Shape;93;p2"/>
            <p:cNvSpPr txBox="1"/>
            <p:nvPr/>
          </p:nvSpPr>
          <p:spPr>
            <a:xfrm>
              <a:off x="3250771" y="3701112"/>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03</a:t>
              </a:r>
              <a:endParaRPr sz="2800" b="0" i="0" u="none" strike="noStrike" cap="none">
                <a:solidFill>
                  <a:schemeClr val="lt1"/>
                </a:solidFill>
                <a:latin typeface="Impact"/>
                <a:ea typeface="Impact"/>
                <a:cs typeface="Impact"/>
                <a:sym typeface="Impact"/>
              </a:endParaRPr>
            </a:p>
          </p:txBody>
        </p:sp>
      </p:grpSp>
      <p:grpSp>
        <p:nvGrpSpPr>
          <p:cNvPr id="99" name="Google Shape;99;p2"/>
          <p:cNvGrpSpPr/>
          <p:nvPr/>
        </p:nvGrpSpPr>
        <p:grpSpPr>
          <a:xfrm>
            <a:off x="3315327" y="1598401"/>
            <a:ext cx="6428734" cy="675771"/>
            <a:chOff x="4555084" y="1092328"/>
            <a:chExt cx="4697323" cy="1150809"/>
          </a:xfrm>
        </p:grpSpPr>
        <p:pic>
          <p:nvPicPr>
            <p:cNvPr id="100" name="Google Shape;100;p2"/>
            <p:cNvPicPr preferRelativeResize="0"/>
            <p:nvPr/>
          </p:nvPicPr>
          <p:blipFill rotWithShape="1">
            <a:blip r:embed="rId3">
              <a:alphaModFix/>
            </a:blip>
            <a:srcRect t="76775"/>
            <a:stretch/>
          </p:blipFill>
          <p:spPr>
            <a:xfrm>
              <a:off x="4926460" y="2041830"/>
              <a:ext cx="3646270" cy="201307"/>
            </a:xfrm>
            <a:prstGeom prst="rect">
              <a:avLst/>
            </a:prstGeom>
            <a:noFill/>
            <a:ln>
              <a:noFill/>
            </a:ln>
          </p:spPr>
        </p:pic>
        <p:grpSp>
          <p:nvGrpSpPr>
            <p:cNvPr id="101" name="Google Shape;101;p2"/>
            <p:cNvGrpSpPr/>
            <p:nvPr/>
          </p:nvGrpSpPr>
          <p:grpSpPr>
            <a:xfrm>
              <a:off x="4555084" y="1092328"/>
              <a:ext cx="4697323" cy="974451"/>
              <a:chOff x="4555084" y="1092328"/>
              <a:chExt cx="4697323" cy="974451"/>
            </a:xfrm>
          </p:grpSpPr>
          <p:pic>
            <p:nvPicPr>
              <p:cNvPr id="102" name="Google Shape;102;p2"/>
              <p:cNvPicPr preferRelativeResize="0"/>
              <p:nvPr/>
            </p:nvPicPr>
            <p:blipFill rotWithShape="1">
              <a:blip r:embed="rId3">
                <a:alphaModFix/>
              </a:blip>
              <a:srcRect t="76775"/>
              <a:stretch/>
            </p:blipFill>
            <p:spPr>
              <a:xfrm rot="-5400000">
                <a:off x="8600149" y="1414521"/>
                <a:ext cx="958122" cy="346394"/>
              </a:xfrm>
              <a:prstGeom prst="rect">
                <a:avLst/>
              </a:prstGeom>
              <a:noFill/>
              <a:ln>
                <a:noFill/>
              </a:ln>
            </p:spPr>
          </p:pic>
          <p:sp>
            <p:nvSpPr>
              <p:cNvPr id="103" name="Google Shape;103;p2"/>
              <p:cNvSpPr/>
              <p:nvPr/>
            </p:nvSpPr>
            <p:spPr>
              <a:xfrm>
                <a:off x="4555084" y="1092328"/>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04" name="Google Shape;104;p2"/>
          <p:cNvGrpSpPr/>
          <p:nvPr/>
        </p:nvGrpSpPr>
        <p:grpSpPr>
          <a:xfrm>
            <a:off x="3224702" y="2413585"/>
            <a:ext cx="6523831" cy="735609"/>
            <a:chOff x="4555084" y="2343654"/>
            <a:chExt cx="4697324" cy="1145415"/>
          </a:xfrm>
        </p:grpSpPr>
        <p:pic>
          <p:nvPicPr>
            <p:cNvPr id="105" name="Google Shape;105;p2"/>
            <p:cNvPicPr preferRelativeResize="0"/>
            <p:nvPr/>
          </p:nvPicPr>
          <p:blipFill rotWithShape="1">
            <a:blip r:embed="rId3">
              <a:alphaModFix/>
            </a:blip>
            <a:srcRect t="76775"/>
            <a:stretch/>
          </p:blipFill>
          <p:spPr>
            <a:xfrm>
              <a:off x="4926460" y="3287762"/>
              <a:ext cx="3646270" cy="201307"/>
            </a:xfrm>
            <a:prstGeom prst="rect">
              <a:avLst/>
            </a:prstGeom>
            <a:noFill/>
            <a:ln>
              <a:noFill/>
            </a:ln>
          </p:spPr>
        </p:pic>
        <p:grpSp>
          <p:nvGrpSpPr>
            <p:cNvPr id="106" name="Google Shape;106;p2"/>
            <p:cNvGrpSpPr/>
            <p:nvPr/>
          </p:nvGrpSpPr>
          <p:grpSpPr>
            <a:xfrm>
              <a:off x="4555084" y="2343654"/>
              <a:ext cx="4697324" cy="974451"/>
              <a:chOff x="4555084" y="2343654"/>
              <a:chExt cx="4697324" cy="974451"/>
            </a:xfrm>
          </p:grpSpPr>
          <p:pic>
            <p:nvPicPr>
              <p:cNvPr id="107" name="Google Shape;107;p2"/>
              <p:cNvPicPr preferRelativeResize="0"/>
              <p:nvPr/>
            </p:nvPicPr>
            <p:blipFill rotWithShape="1">
              <a:blip r:embed="rId3">
                <a:alphaModFix/>
              </a:blip>
              <a:srcRect t="76775"/>
              <a:stretch/>
            </p:blipFill>
            <p:spPr>
              <a:xfrm rot="-5400000">
                <a:off x="8600150" y="2665847"/>
                <a:ext cx="958122" cy="346394"/>
              </a:xfrm>
              <a:prstGeom prst="rect">
                <a:avLst/>
              </a:prstGeom>
              <a:noFill/>
              <a:ln>
                <a:noFill/>
              </a:ln>
            </p:spPr>
          </p:pic>
          <p:sp>
            <p:nvSpPr>
              <p:cNvPr id="108" name="Google Shape;108;p2"/>
              <p:cNvSpPr/>
              <p:nvPr/>
            </p:nvSpPr>
            <p:spPr>
              <a:xfrm>
                <a:off x="4555084" y="2343654"/>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09" name="Google Shape;109;p2"/>
          <p:cNvGrpSpPr/>
          <p:nvPr/>
        </p:nvGrpSpPr>
        <p:grpSpPr>
          <a:xfrm>
            <a:off x="3227203" y="3260108"/>
            <a:ext cx="6521206" cy="682227"/>
            <a:chOff x="4555084" y="3594980"/>
            <a:chExt cx="4697325" cy="1150703"/>
          </a:xfrm>
        </p:grpSpPr>
        <p:pic>
          <p:nvPicPr>
            <p:cNvPr id="110" name="Google Shape;110;p2"/>
            <p:cNvPicPr preferRelativeResize="0"/>
            <p:nvPr/>
          </p:nvPicPr>
          <p:blipFill rotWithShape="1">
            <a:blip r:embed="rId3">
              <a:alphaModFix/>
            </a:blip>
            <a:srcRect t="76775"/>
            <a:stretch/>
          </p:blipFill>
          <p:spPr>
            <a:xfrm>
              <a:off x="4926460" y="4544376"/>
              <a:ext cx="3646270" cy="201307"/>
            </a:xfrm>
            <a:prstGeom prst="rect">
              <a:avLst/>
            </a:prstGeom>
            <a:noFill/>
            <a:ln>
              <a:noFill/>
            </a:ln>
          </p:spPr>
        </p:pic>
        <p:grpSp>
          <p:nvGrpSpPr>
            <p:cNvPr id="111" name="Google Shape;111;p2"/>
            <p:cNvGrpSpPr/>
            <p:nvPr/>
          </p:nvGrpSpPr>
          <p:grpSpPr>
            <a:xfrm>
              <a:off x="4555084" y="3594980"/>
              <a:ext cx="4697325" cy="974450"/>
              <a:chOff x="4555084" y="3594980"/>
              <a:chExt cx="4697325" cy="974450"/>
            </a:xfrm>
          </p:grpSpPr>
          <p:pic>
            <p:nvPicPr>
              <p:cNvPr id="112" name="Google Shape;112;p2"/>
              <p:cNvPicPr preferRelativeResize="0"/>
              <p:nvPr/>
            </p:nvPicPr>
            <p:blipFill rotWithShape="1">
              <a:blip r:embed="rId3">
                <a:alphaModFix/>
              </a:blip>
              <a:srcRect t="76775"/>
              <a:stretch/>
            </p:blipFill>
            <p:spPr>
              <a:xfrm rot="-5400000">
                <a:off x="8600151" y="3917172"/>
                <a:ext cx="958122" cy="346394"/>
              </a:xfrm>
              <a:prstGeom prst="rect">
                <a:avLst/>
              </a:prstGeom>
              <a:noFill/>
              <a:ln>
                <a:noFill/>
              </a:ln>
            </p:spPr>
          </p:pic>
          <p:sp>
            <p:nvSpPr>
              <p:cNvPr id="113" name="Google Shape;113;p2"/>
              <p:cNvSpPr/>
              <p:nvPr/>
            </p:nvSpPr>
            <p:spPr>
              <a:xfrm>
                <a:off x="4555084" y="3594980"/>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14" name="Google Shape;114;p2"/>
          <p:cNvGrpSpPr/>
          <p:nvPr/>
        </p:nvGrpSpPr>
        <p:grpSpPr>
          <a:xfrm>
            <a:off x="3242960" y="4074674"/>
            <a:ext cx="6504673" cy="675771"/>
            <a:chOff x="4555085" y="4807551"/>
            <a:chExt cx="4697323" cy="974449"/>
          </a:xfrm>
        </p:grpSpPr>
        <p:pic>
          <p:nvPicPr>
            <p:cNvPr id="115" name="Google Shape;115;p2"/>
            <p:cNvPicPr preferRelativeResize="0"/>
            <p:nvPr/>
          </p:nvPicPr>
          <p:blipFill rotWithShape="1">
            <a:blip r:embed="rId3">
              <a:alphaModFix/>
            </a:blip>
            <a:srcRect t="76775"/>
            <a:stretch/>
          </p:blipFill>
          <p:spPr>
            <a:xfrm>
              <a:off x="4873327" y="5580404"/>
              <a:ext cx="3646270" cy="201307"/>
            </a:xfrm>
            <a:prstGeom prst="rect">
              <a:avLst/>
            </a:prstGeom>
            <a:noFill/>
            <a:ln>
              <a:noFill/>
            </a:ln>
          </p:spPr>
        </p:pic>
        <p:grpSp>
          <p:nvGrpSpPr>
            <p:cNvPr id="116" name="Google Shape;116;p2"/>
            <p:cNvGrpSpPr/>
            <p:nvPr/>
          </p:nvGrpSpPr>
          <p:grpSpPr>
            <a:xfrm>
              <a:off x="4555085" y="4807551"/>
              <a:ext cx="4697323" cy="974449"/>
              <a:chOff x="4555085" y="4807551"/>
              <a:chExt cx="4697323" cy="974449"/>
            </a:xfrm>
          </p:grpSpPr>
          <p:pic>
            <p:nvPicPr>
              <p:cNvPr id="117" name="Google Shape;117;p2"/>
              <p:cNvPicPr preferRelativeResize="0"/>
              <p:nvPr/>
            </p:nvPicPr>
            <p:blipFill rotWithShape="1">
              <a:blip r:embed="rId3">
                <a:alphaModFix/>
              </a:blip>
              <a:srcRect t="76775"/>
              <a:stretch/>
            </p:blipFill>
            <p:spPr>
              <a:xfrm rot="-5400000">
                <a:off x="8600150" y="5129743"/>
                <a:ext cx="958122" cy="346393"/>
              </a:xfrm>
              <a:prstGeom prst="rect">
                <a:avLst/>
              </a:prstGeom>
              <a:noFill/>
              <a:ln>
                <a:noFill/>
              </a:ln>
            </p:spPr>
          </p:pic>
          <p:sp>
            <p:nvSpPr>
              <p:cNvPr id="118" name="Google Shape;118;p2"/>
              <p:cNvSpPr/>
              <p:nvPr/>
            </p:nvSpPr>
            <p:spPr>
              <a:xfrm>
                <a:off x="4555085" y="4807551"/>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19" name="Google Shape;119;p2"/>
          <p:cNvGrpSpPr/>
          <p:nvPr/>
        </p:nvGrpSpPr>
        <p:grpSpPr>
          <a:xfrm>
            <a:off x="2784174" y="1598401"/>
            <a:ext cx="778013" cy="3199307"/>
            <a:chOff x="3971019" y="796001"/>
            <a:chExt cx="989404" cy="5338506"/>
          </a:xfrm>
        </p:grpSpPr>
        <p:sp>
          <p:nvSpPr>
            <p:cNvPr id="120" name="Google Shape;120;p2"/>
            <p:cNvSpPr/>
            <p:nvPr/>
          </p:nvSpPr>
          <p:spPr>
            <a:xfrm>
              <a:off x="4614031" y="796001"/>
              <a:ext cx="346392" cy="5287413"/>
            </a:xfrm>
            <a:prstGeom prst="rect">
              <a:avLst/>
            </a:prstGeom>
            <a:gradFill>
              <a:gsLst>
                <a:gs pos="0">
                  <a:srgbClr val="000000">
                    <a:alpha val="7843"/>
                  </a:srgbClr>
                </a:gs>
                <a:gs pos="100000">
                  <a:srgbClr val="F2F2F2">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sp>
          <p:nvSpPr>
            <p:cNvPr id="121" name="Google Shape;121;p2"/>
            <p:cNvSpPr/>
            <p:nvPr/>
          </p:nvSpPr>
          <p:spPr>
            <a:xfrm>
              <a:off x="4178614" y="796001"/>
              <a:ext cx="452661" cy="52874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t="76775"/>
            <a:stretch/>
          </p:blipFill>
          <p:spPr>
            <a:xfrm rot="5400000">
              <a:off x="1404452" y="3362569"/>
              <a:ext cx="5338505" cy="205371"/>
            </a:xfrm>
            <a:prstGeom prst="rect">
              <a:avLst/>
            </a:prstGeom>
            <a:noFill/>
            <a:ln>
              <a:noFill/>
            </a:ln>
          </p:spPr>
        </p:pic>
        <p:sp>
          <p:nvSpPr>
            <p:cNvPr id="123" name="Google Shape;123;p2"/>
            <p:cNvSpPr/>
            <p:nvPr/>
          </p:nvSpPr>
          <p:spPr>
            <a:xfrm rot="10800000">
              <a:off x="4614203" y="796001"/>
              <a:ext cx="345594" cy="920797"/>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4" name="Google Shape;124;p2"/>
            <p:cNvSpPr/>
            <p:nvPr/>
          </p:nvSpPr>
          <p:spPr>
            <a:xfrm rot="5400000">
              <a:off x="4085362" y="2026910"/>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5" name="Google Shape;125;p2"/>
            <p:cNvSpPr/>
            <p:nvPr/>
          </p:nvSpPr>
          <p:spPr>
            <a:xfrm rot="5400000">
              <a:off x="4085362" y="3275907"/>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6" name="Google Shape;126;p2"/>
            <p:cNvSpPr/>
            <p:nvPr/>
          </p:nvSpPr>
          <p:spPr>
            <a:xfrm rot="5400000">
              <a:off x="4085362" y="4502881"/>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7" name="Google Shape;127;p2"/>
            <p:cNvSpPr/>
            <p:nvPr/>
          </p:nvSpPr>
          <p:spPr>
            <a:xfrm flipH="1">
              <a:off x="4614203" y="5187950"/>
              <a:ext cx="345594" cy="895464"/>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28" name="Google Shape;128;p2"/>
          <p:cNvSpPr txBox="1"/>
          <p:nvPr/>
        </p:nvSpPr>
        <p:spPr>
          <a:xfrm>
            <a:off x="3315326" y="1672543"/>
            <a:ext cx="530374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FFC000"/>
                </a:solidFill>
                <a:latin typeface="Times New Roman"/>
                <a:ea typeface="Times New Roman"/>
                <a:cs typeface="Times New Roman"/>
                <a:sym typeface="Times New Roman"/>
              </a:rPr>
              <a:t> Java Reflection</a:t>
            </a:r>
            <a:endParaRPr sz="2800" b="1" dirty="0">
              <a:solidFill>
                <a:srgbClr val="FFC000"/>
              </a:solidFill>
              <a:latin typeface="Times New Roman"/>
              <a:ea typeface="Times New Roman"/>
              <a:cs typeface="Times New Roman"/>
              <a:sym typeface="Times New Roman"/>
            </a:endParaRPr>
          </a:p>
        </p:txBody>
      </p:sp>
      <p:sp>
        <p:nvSpPr>
          <p:cNvPr id="129" name="Google Shape;129;p2"/>
          <p:cNvSpPr/>
          <p:nvPr/>
        </p:nvSpPr>
        <p:spPr>
          <a:xfrm>
            <a:off x="3321731" y="2471629"/>
            <a:ext cx="5413511" cy="523180"/>
          </a:xfrm>
          <a:prstGeom prst="rect">
            <a:avLst/>
          </a:prstGeom>
          <a:noFill/>
          <a:ln>
            <a:noFill/>
          </a:ln>
        </p:spPr>
        <p:txBody>
          <a:bodyPr spcFirstLastPara="1" wrap="square" lIns="91425" tIns="45700" rIns="91425" bIns="45700" anchor="t" anchorCtr="0">
            <a:spAutoFit/>
          </a:bodyPr>
          <a:lstStyle/>
          <a:p>
            <a:pPr lvl="0"/>
            <a:r>
              <a:rPr lang="en-US" sz="2800" b="1" dirty="0">
                <a:solidFill>
                  <a:srgbClr val="01ACBE"/>
                </a:solidFill>
                <a:latin typeface="Times New Roman"/>
                <a:ea typeface="Times New Roman"/>
                <a:cs typeface="Times New Roman"/>
                <a:sym typeface="Times New Roman"/>
              </a:rPr>
              <a:t>Annotation</a:t>
            </a:r>
            <a:endParaRPr sz="2800" b="1" dirty="0">
              <a:solidFill>
                <a:srgbClr val="01ACBE"/>
              </a:solidFill>
              <a:latin typeface="Times New Roman"/>
              <a:ea typeface="Times New Roman"/>
              <a:cs typeface="Times New Roman"/>
              <a:sym typeface="Times New Roman"/>
            </a:endParaRPr>
          </a:p>
        </p:txBody>
      </p:sp>
      <p:sp>
        <p:nvSpPr>
          <p:cNvPr id="130" name="Google Shape;130;p2"/>
          <p:cNvSpPr/>
          <p:nvPr/>
        </p:nvSpPr>
        <p:spPr>
          <a:xfrm>
            <a:off x="3346900" y="3335600"/>
            <a:ext cx="568681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smtClean="0">
                <a:solidFill>
                  <a:srgbClr val="E87071"/>
                </a:solidFill>
                <a:latin typeface="Times New Roman"/>
                <a:ea typeface="Times New Roman"/>
                <a:cs typeface="Times New Roman"/>
                <a:sym typeface="Times New Roman"/>
              </a:rPr>
              <a:t>Spring Framework</a:t>
            </a:r>
            <a:endParaRPr sz="2800" b="1" dirty="0">
              <a:solidFill>
                <a:srgbClr val="E87071"/>
              </a:solidFill>
              <a:latin typeface="Times New Roman"/>
              <a:ea typeface="Times New Roman"/>
              <a:cs typeface="Times New Roman"/>
              <a:sym typeface="Times New Roman"/>
            </a:endParaRPr>
          </a:p>
        </p:txBody>
      </p:sp>
      <p:sp>
        <p:nvSpPr>
          <p:cNvPr id="131" name="Google Shape;131;p2"/>
          <p:cNvSpPr/>
          <p:nvPr/>
        </p:nvSpPr>
        <p:spPr>
          <a:xfrm>
            <a:off x="3287721" y="4151054"/>
            <a:ext cx="45959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663A77"/>
                </a:solidFill>
                <a:latin typeface="Times New Roman"/>
                <a:ea typeface="Times New Roman"/>
                <a:cs typeface="Times New Roman"/>
                <a:sym typeface="Times New Roman"/>
              </a:rPr>
              <a:t> </a:t>
            </a:r>
            <a:endParaRPr sz="2800" b="1" dirty="0">
              <a:solidFill>
                <a:srgbClr val="663A77"/>
              </a:solidFill>
              <a:latin typeface="Times New Roman"/>
              <a:ea typeface="Times New Roman"/>
              <a:cs typeface="Times New Roman"/>
              <a:sym typeface="Times New Roman"/>
            </a:endParaRPr>
          </a:p>
        </p:txBody>
      </p:sp>
      <p:grpSp>
        <p:nvGrpSpPr>
          <p:cNvPr id="132" name="Google Shape;132;p2"/>
          <p:cNvGrpSpPr/>
          <p:nvPr/>
        </p:nvGrpSpPr>
        <p:grpSpPr>
          <a:xfrm>
            <a:off x="2115695" y="4074674"/>
            <a:ext cx="788184" cy="723034"/>
            <a:chOff x="2957626" y="3769915"/>
            <a:chExt cx="1113652" cy="964046"/>
          </a:xfrm>
        </p:grpSpPr>
        <p:grpSp>
          <p:nvGrpSpPr>
            <p:cNvPr id="133" name="Google Shape;133;p2"/>
            <p:cNvGrpSpPr/>
            <p:nvPr/>
          </p:nvGrpSpPr>
          <p:grpSpPr>
            <a:xfrm>
              <a:off x="2957626" y="3769915"/>
              <a:ext cx="1113652" cy="964046"/>
              <a:chOff x="2587963" y="111843"/>
              <a:chExt cx="1113652" cy="964046"/>
            </a:xfrm>
          </p:grpSpPr>
          <p:sp>
            <p:nvSpPr>
              <p:cNvPr id="134" name="Google Shape;134;p2"/>
              <p:cNvSpPr/>
              <p:nvPr/>
            </p:nvSpPr>
            <p:spPr>
              <a:xfrm>
                <a:off x="2587963" y="11776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135" name="Google Shape;135;p2"/>
              <p:cNvSpPr/>
              <p:nvPr/>
            </p:nvSpPr>
            <p:spPr>
              <a:xfrm>
                <a:off x="2638400" y="111843"/>
                <a:ext cx="1063215" cy="901028"/>
              </a:xfrm>
              <a:prstGeom prst="roundRect">
                <a:avLst>
                  <a:gd name="adj" fmla="val 13889"/>
                </a:avLst>
              </a:prstGeom>
              <a:solidFill>
                <a:srgbClr val="663A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sp>
          <p:nvSpPr>
            <p:cNvPr id="136" name="Google Shape;136;p2"/>
            <p:cNvSpPr txBox="1"/>
            <p:nvPr/>
          </p:nvSpPr>
          <p:spPr>
            <a:xfrm>
              <a:off x="3008886" y="3882010"/>
              <a:ext cx="1030514"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lt1"/>
                  </a:solidFill>
                  <a:latin typeface="Impact"/>
                  <a:ea typeface="Impact"/>
                  <a:cs typeface="Impact"/>
                  <a:sym typeface="Impact"/>
                </a:rPr>
                <a:t>04</a:t>
              </a:r>
              <a:endParaRPr sz="2800">
                <a:solidFill>
                  <a:schemeClr val="lt1"/>
                </a:solidFill>
                <a:latin typeface="Impact"/>
                <a:ea typeface="Impact"/>
                <a:cs typeface="Impact"/>
                <a:sym typeface="Impac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
                                        <p:tgtEl>
                                          <p:spTgt spid="75"/>
                                        </p:tgtEl>
                                        <p:attrNameLst>
                                          <p:attrName>ppt_w</p:attrName>
                                        </p:attrNameLst>
                                      </p:cBhvr>
                                      <p:tavLst>
                                        <p:tav tm="0">
                                          <p:val>
                                            <p:strVal val="0"/>
                                          </p:val>
                                        </p:tav>
                                        <p:tav tm="100000">
                                          <p:val>
                                            <p:strVal val="#ppt_w"/>
                                          </p:val>
                                        </p:tav>
                                      </p:tavLst>
                                    </p:anim>
                                    <p:anim calcmode="lin" valueType="num">
                                      <p:cBhvr additive="base">
                                        <p:cTn id="8" dur="100"/>
                                        <p:tgtEl>
                                          <p:spTgt spid="75"/>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10" presetClass="entr" presetSubtype="0" fill="hold" nodeType="after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par>
                          <p:cTn id="13" fill="hold">
                            <p:stCondLst>
                              <p:cond delay="600"/>
                            </p:stCondLst>
                            <p:childTnLst>
                              <p:par>
                                <p:cTn id="14" presetID="10" presetClass="entr" presetSubtype="0" fill="hold"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fade">
                                      <p:cBhvr>
                                        <p:cTn id="16" dur="500"/>
                                        <p:tgtEl>
                                          <p:spTgt spid="79"/>
                                        </p:tgtEl>
                                      </p:cBhvr>
                                    </p:animEffect>
                                  </p:childTnLst>
                                </p:cTn>
                              </p:par>
                              <p:par>
                                <p:cTn id="17" presetID="10"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500"/>
                                        <p:tgtEl>
                                          <p:spTgt spid="99"/>
                                        </p:tgtEl>
                                      </p:cBhvr>
                                    </p:animEffect>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500"/>
                                        <p:tgtEl>
                                          <p:spTgt spid="84"/>
                                        </p:tgtEl>
                                      </p:cBhvr>
                                    </p:animEffect>
                                  </p:childTnLst>
                                </p:cTn>
                              </p:par>
                              <p:par>
                                <p:cTn id="24" presetID="10" presetClass="entr" presetSubtype="0" fill="hold" nodeType="withEffect">
                                  <p:stCondLst>
                                    <p:cond delay="0"/>
                                  </p:stCondLst>
                                  <p:childTnLst>
                                    <p:set>
                                      <p:cBhvr>
                                        <p:cTn id="25" dur="1" fill="hold">
                                          <p:stCondLst>
                                            <p:cond delay="0"/>
                                          </p:stCondLst>
                                        </p:cTn>
                                        <p:tgtEl>
                                          <p:spTgt spid="104"/>
                                        </p:tgtEl>
                                        <p:attrNameLst>
                                          <p:attrName>style.visibility</p:attrName>
                                        </p:attrNameLst>
                                      </p:cBhvr>
                                      <p:to>
                                        <p:strVal val="visible"/>
                                      </p:to>
                                    </p:set>
                                    <p:animEffect transition="in" filter="fade">
                                      <p:cBhvr>
                                        <p:cTn id="26" dur="500"/>
                                        <p:tgtEl>
                                          <p:spTgt spid="104"/>
                                        </p:tgtEl>
                                      </p:cBhvr>
                                    </p:animEffect>
                                  </p:childTnLst>
                                </p:cTn>
                              </p:par>
                            </p:childTnLst>
                          </p:cTn>
                        </p:par>
                        <p:par>
                          <p:cTn id="27" fill="hold">
                            <p:stCondLst>
                              <p:cond delay="1600"/>
                            </p:stCondLst>
                            <p:childTnLst>
                              <p:par>
                                <p:cTn id="28" presetID="10" presetClass="entr" presetSubtype="0"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fade">
                                      <p:cBhvr>
                                        <p:cTn id="30" dur="500"/>
                                        <p:tgtEl>
                                          <p:spTgt spid="89"/>
                                        </p:tgtEl>
                                      </p:cBhvr>
                                    </p:animEffect>
                                  </p:childTnLst>
                                </p:cTn>
                              </p:par>
                              <p:par>
                                <p:cTn id="31" presetID="10"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fade">
                                      <p:cBhvr>
                                        <p:cTn id="36" dur="500"/>
                                        <p:tgtEl>
                                          <p:spTgt spid="114"/>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32"/>
                                        </p:tgtEl>
                                        <p:attrNameLst>
                                          <p:attrName>style.visibility</p:attrName>
                                        </p:attrNameLst>
                                      </p:cBhvr>
                                      <p:to>
                                        <p:strVal val="visible"/>
                                      </p:to>
                                    </p:set>
                                    <p:animEffect transition="in" filter="fade">
                                      <p:cBhvr>
                                        <p:cTn id="40"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90" name="Google Shape;190;p5"/>
          <p:cNvGrpSpPr/>
          <p:nvPr/>
        </p:nvGrpSpPr>
        <p:grpSpPr>
          <a:xfrm>
            <a:off x="1670730" y="1263299"/>
            <a:ext cx="8616270" cy="1007332"/>
            <a:chOff x="3129129" y="1121776"/>
            <a:chExt cx="5933741" cy="1171624"/>
          </a:xfrm>
        </p:grpSpPr>
        <p:sp>
          <p:nvSpPr>
            <p:cNvPr id="191" name="Google Shape;191;p5"/>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p:cNvGrpSpPr/>
          <p:nvPr/>
        </p:nvGrpSpPr>
        <p:grpSpPr>
          <a:xfrm>
            <a:off x="1782659" y="1240148"/>
            <a:ext cx="1674310" cy="1522886"/>
            <a:chOff x="3020983" y="881796"/>
            <a:chExt cx="2097410" cy="2097410"/>
          </a:xfrm>
        </p:grpSpPr>
        <p:grpSp>
          <p:nvGrpSpPr>
            <p:cNvPr id="194" name="Google Shape;194;p5"/>
            <p:cNvGrpSpPr/>
            <p:nvPr/>
          </p:nvGrpSpPr>
          <p:grpSpPr>
            <a:xfrm>
              <a:off x="3020983" y="881796"/>
              <a:ext cx="2097410" cy="2097410"/>
              <a:chOff x="3099689" y="1098878"/>
              <a:chExt cx="1995612" cy="1995615"/>
            </a:xfrm>
          </p:grpSpPr>
          <p:grpSp>
            <p:nvGrpSpPr>
              <p:cNvPr id="195" name="Google Shape;195;p5"/>
              <p:cNvGrpSpPr/>
              <p:nvPr/>
            </p:nvGrpSpPr>
            <p:grpSpPr>
              <a:xfrm>
                <a:off x="3099689" y="1098878"/>
                <a:ext cx="1995612" cy="1995615"/>
                <a:chOff x="6804316" y="2574806"/>
                <a:chExt cx="3585705" cy="3585705"/>
              </a:xfrm>
            </p:grpSpPr>
            <p:sp>
              <p:nvSpPr>
                <p:cNvPr id="196" name="Google Shape;196;p5"/>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Reflection</a:t>
            </a:r>
            <a:endParaRPr sz="2800" b="1" dirty="0">
              <a:solidFill>
                <a:schemeClr val="dk1"/>
              </a:solidFill>
              <a:latin typeface="Times New Roman"/>
              <a:ea typeface="Times New Roman"/>
              <a:cs typeface="Times New Roman"/>
              <a:sym typeface="Times New Roman"/>
            </a:endParaRPr>
          </a:p>
        </p:txBody>
      </p:sp>
      <p:sp>
        <p:nvSpPr>
          <p:cNvPr id="202" name="Google Shape;202;p5"/>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0" i="0" dirty="0">
                <a:solidFill>
                  <a:srgbClr val="222222"/>
                </a:solidFill>
                <a:effectLst/>
                <a:latin typeface="Times New Roman" panose="02020603050405020304" pitchFamily="18" charset="0"/>
                <a:cs typeface="Times New Roman" panose="02020603050405020304" pitchFamily="18" charset="0"/>
              </a:rPr>
              <a:t>Là 1 </a:t>
            </a:r>
            <a:r>
              <a:rPr lang="vi-VN" sz="2800" b="0" i="0" dirty="0">
                <a:solidFill>
                  <a:srgbClr val="222222"/>
                </a:solidFill>
                <a:effectLst/>
                <a:latin typeface="Times New Roman" panose="02020603050405020304" pitchFamily="18" charset="0"/>
                <a:cs typeface="Times New Roman" panose="02020603050405020304" pitchFamily="18" charset="0"/>
              </a:rPr>
              <a:t>tính năng mạnh mẽ trong Java cho phép bạn kiểm tra và thao tác với các </a:t>
            </a:r>
            <a:r>
              <a:rPr lang="en-US" sz="2800" b="0" i="0" dirty="0">
                <a:solidFill>
                  <a:srgbClr val="222222"/>
                </a:solidFill>
                <a:effectLst/>
                <a:latin typeface="Times New Roman" panose="02020603050405020304" pitchFamily="18" charset="0"/>
                <a:cs typeface="Times New Roman" panose="02020603050405020304" pitchFamily="18" charset="0"/>
              </a:rPr>
              <a:t>class</a:t>
            </a:r>
            <a:r>
              <a:rPr lang="vi-VN" sz="2800" b="0" i="0" dirty="0">
                <a:solidFill>
                  <a:srgbClr val="222222"/>
                </a:solidFill>
                <a:effectLst/>
                <a:latin typeface="Times New Roman" panose="02020603050405020304" pitchFamily="18" charset="0"/>
                <a:cs typeface="Times New Roman" panose="02020603050405020304" pitchFamily="18" charset="0"/>
              </a:rPr>
              <a:t>, </a:t>
            </a:r>
            <a:r>
              <a:rPr lang="en-US" sz="2800" b="0" i="0" dirty="0">
                <a:solidFill>
                  <a:srgbClr val="222222"/>
                </a:solidFill>
                <a:effectLst/>
                <a:latin typeface="Times New Roman" panose="02020603050405020304" pitchFamily="18" charset="0"/>
                <a:cs typeface="Times New Roman" panose="02020603050405020304" pitchFamily="18" charset="0"/>
              </a:rPr>
              <a:t>method</a:t>
            </a:r>
            <a:r>
              <a:rPr lang="vi-VN" sz="2800" b="0" i="0" dirty="0">
                <a:solidFill>
                  <a:srgbClr val="222222"/>
                </a:solidFill>
                <a:effectLst/>
                <a:latin typeface="Times New Roman" panose="02020603050405020304" pitchFamily="18" charset="0"/>
                <a:cs typeface="Times New Roman" panose="02020603050405020304" pitchFamily="18" charset="0"/>
              </a:rPr>
              <a:t>, </a:t>
            </a:r>
            <a:r>
              <a:rPr lang="en-US" sz="2800" b="0" i="0" dirty="0">
                <a:solidFill>
                  <a:srgbClr val="222222"/>
                </a:solidFill>
                <a:effectLst/>
                <a:latin typeface="Times New Roman" panose="02020603050405020304" pitchFamily="18" charset="0"/>
                <a:cs typeface="Times New Roman" panose="02020603050405020304" pitchFamily="18" charset="0"/>
              </a:rPr>
              <a:t>field</a:t>
            </a:r>
            <a:r>
              <a:rPr lang="vi-VN" sz="2800" b="0" i="0" dirty="0">
                <a:solidFill>
                  <a:srgbClr val="222222"/>
                </a:solidFill>
                <a:effectLst/>
                <a:latin typeface="Times New Roman" panose="02020603050405020304" pitchFamily="18" charset="0"/>
                <a:cs typeface="Times New Roman" panose="02020603050405020304" pitchFamily="18" charset="0"/>
              </a:rPr>
              <a:t>, và các constructor trong lúc chương trình đang chạy</a:t>
            </a:r>
            <a:r>
              <a:rPr lang="en-US" sz="2800" b="0" i="0" dirty="0">
                <a:solidFill>
                  <a:srgbClr val="222222"/>
                </a:solidFill>
                <a:effectLst/>
                <a:latin typeface="Times New Roman" panose="02020603050405020304" pitchFamily="18" charset="0"/>
                <a:cs typeface="Times New Roman" panose="02020603050405020304" pitchFamily="18" charset="0"/>
              </a:rPr>
              <a:t> (Runtime)</a:t>
            </a:r>
            <a:r>
              <a:rPr lang="vi-VN" sz="2800" b="0" i="0" dirty="0">
                <a:solidFill>
                  <a:srgbClr val="222222"/>
                </a:solidFill>
                <a:effectLst/>
                <a:latin typeface="Times New Roman" panose="02020603050405020304" pitchFamily="18" charset="0"/>
                <a:cs typeface="Times New Roman" panose="02020603050405020304" pitchFamily="18" charset="0"/>
              </a:rPr>
              <a:t>. Nó là một phần của gói java.lang.reflect và cho phép các chương trình Java phân tích và thay đổi hành vi của các đối tượng khi đang chạy, giúp lập trình linh động hơn.</a:t>
            </a:r>
            <a:endParaRPr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CFCC06C4-A5C7-2BB4-8B79-0A2A70A697F0}"/>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A550893F-0BC8-9312-6E6B-FA1612C33EF7}"/>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BE58BB3F-88DA-FB2C-A359-DEF6ACA176DD}"/>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4A58FA38-8704-9417-305C-5C43C032D0D1}"/>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C8CE7B12-51CF-E139-0F79-443733DC04C7}"/>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62B93167-F3FD-84E2-5478-37BB6DCC3EE1}"/>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33821110-B2DA-AC6B-029C-6E99854B6166}"/>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391E20B3-2A4D-354E-4FB7-4FC15E29FFE6}"/>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011759FE-F726-D52D-BA50-C4DBE0A57DC2}"/>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47B3965D-EFC0-C2DB-CA0E-303B3705F054}"/>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3F702DC1-F650-7489-A671-942716E1AF22}"/>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9C907233-8417-169B-B68B-47E686236F94}"/>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89AFE197-4BF5-0F19-ECD6-32E47D153CF4}"/>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Reflection</a:t>
            </a:r>
            <a:endParaRPr sz="2800" b="1"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7A10D3B-BD76-9715-56D1-2F3764330DB6}"/>
              </a:ext>
            </a:extLst>
          </p:cNvPr>
          <p:cNvPicPr>
            <a:picLocks noChangeAspect="1"/>
          </p:cNvPicPr>
          <p:nvPr/>
        </p:nvPicPr>
        <p:blipFill>
          <a:blip r:embed="rId3"/>
          <a:stretch>
            <a:fillRect/>
          </a:stretch>
        </p:blipFill>
        <p:spPr>
          <a:xfrm>
            <a:off x="2963924" y="2781742"/>
            <a:ext cx="6373114" cy="3029373"/>
          </a:xfrm>
          <a:prstGeom prst="rect">
            <a:avLst/>
          </a:prstGeom>
        </p:spPr>
      </p:pic>
    </p:spTree>
    <p:extLst>
      <p:ext uri="{BB962C8B-B14F-4D97-AF65-F5344CB8AC3E}">
        <p14:creationId xmlns:p14="http://schemas.microsoft.com/office/powerpoint/2010/main" val="27268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2B530A11-BB4A-6CF4-1967-FDA762F4D0CE}"/>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0FC38726-DFE4-6764-A3A9-738B23D88BCA}"/>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7D4BC48E-7F3A-00BF-D261-2864257D17A1}"/>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30B92E47-F996-B2A2-C3E4-DA9AB6AD1032}"/>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59D5DA75-CB34-200B-10F6-6A2DE07D885C}"/>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4A7C7346-A513-6B24-BBC2-A8C6DE6FF2FA}"/>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791B8AE8-8A2F-144F-ED7C-8A2769C29221}"/>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D84DFD3-3634-036F-F376-52E931493C7C}"/>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B9F0BC0D-039A-4785-E95B-5F56091225B1}"/>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959844D9-DE5C-D8CF-9233-684C65B13244}"/>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3D463E61-AF3C-B03E-E17B-8EA1BAEA952A}"/>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63882475-D246-38E7-8394-F12A45F0CB89}"/>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smtClean="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7AA949D8-171C-F50F-1566-D98A612803DC}"/>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Annotation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6C95932D-6658-F5E3-64A0-3CF6277295BE}"/>
              </a:ext>
            </a:extLst>
          </p:cNvPr>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Annotations trong Java là một cách để gắn thêm siêu dữ liệu vào mã nguồn, giúp cung cấp thông tin cho trình biên dịch, môi trường runtime hoặc công cụ xử lý mã về cách mà một phần mã nhất định nên được sử dụng hoặc hiểu. Các annotation không trực tiếp ảnh hưởng đến logic chương trình mà hỗ trợ các công cụ hoặc framework xử lý mã dễ dàng và hiệu quả hơn.</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77800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2B530A11-BB4A-6CF4-1967-FDA762F4D0CE}"/>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0FC38726-DFE4-6764-A3A9-738B23D88BCA}"/>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7D4BC48E-7F3A-00BF-D261-2864257D17A1}"/>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30B92E47-F996-B2A2-C3E4-DA9AB6AD1032}"/>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59D5DA75-CB34-200B-10F6-6A2DE07D885C}"/>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4A7C7346-A513-6B24-BBC2-A8C6DE6FF2FA}"/>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791B8AE8-8A2F-144F-ED7C-8A2769C29221}"/>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5D84DFD3-3634-036F-F376-52E931493C7C}"/>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B9F0BC0D-039A-4785-E95B-5F56091225B1}"/>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959844D9-DE5C-D8CF-9233-684C65B13244}"/>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3D463E61-AF3C-B03E-E17B-8EA1BAEA952A}"/>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63882475-D246-38E7-8394-F12A45F0CB89}"/>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smtClean="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7AA949D8-171C-F50F-1566-D98A612803DC}"/>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Java Annotation</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6C95932D-6658-F5E3-64A0-3CF6277295BE}"/>
              </a:ext>
            </a:extLst>
          </p:cNvPr>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lvl="0"/>
            <a:r>
              <a:rPr lang="vi-VN" sz="2800" dirty="0">
                <a:solidFill>
                  <a:srgbClr val="222222"/>
                </a:solidFill>
                <a:latin typeface="Times New Roman" panose="02020603050405020304" pitchFamily="18" charset="0"/>
                <a:cs typeface="Times New Roman" panose="02020603050405020304" pitchFamily="18" charset="0"/>
              </a:rPr>
              <a:t>•	Được định nghĩa bằng từ khóa @interface.</a:t>
            </a:r>
          </a:p>
          <a:p>
            <a:pPr lvl="0"/>
            <a:r>
              <a:rPr lang="vi-VN" sz="2800" dirty="0">
                <a:solidFill>
                  <a:srgbClr val="222222"/>
                </a:solidFill>
                <a:latin typeface="Times New Roman" panose="02020603050405020304" pitchFamily="18" charset="0"/>
                <a:cs typeface="Times New Roman" panose="02020603050405020304" pitchFamily="18" charset="0"/>
              </a:rPr>
              <a:t>•	Chúng có thể được xử lý trong thời gian chạy, thời gian biên dịch, hoặc bởi các công cụ khác.</a:t>
            </a:r>
          </a:p>
          <a:p>
            <a:pPr lvl="0"/>
            <a:r>
              <a:rPr lang="vi-VN" sz="2800" dirty="0">
                <a:solidFill>
                  <a:srgbClr val="222222"/>
                </a:solidFill>
                <a:latin typeface="Times New Roman" panose="02020603050405020304" pitchFamily="18" charset="0"/>
                <a:cs typeface="Times New Roman" panose="02020603050405020304" pitchFamily="18" charset="0"/>
              </a:rPr>
              <a:t>•	Annotations tùy chỉnh thường có RetentionPolicy và Target để chỉ định nơi chúng có thể áp dụng và thời gian duy trì.</a:t>
            </a:r>
          </a:p>
        </p:txBody>
      </p:sp>
    </p:spTree>
    <p:extLst>
      <p:ext uri="{BB962C8B-B14F-4D97-AF65-F5344CB8AC3E}">
        <p14:creationId xmlns:p14="http://schemas.microsoft.com/office/powerpoint/2010/main" val="105653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smtClean="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smtClean="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name="adj" fmla="val 4670"/>
              </a:avLst>
            </a:prstGeom>
            <a:gradFill>
              <a:gsLst>
                <a:gs pos="0">
                  <a:srgbClr val="7F7F7F"/>
                </a:gs>
                <a:gs pos="100000">
                  <a:srgbClr val="3F3F3F"/>
                </a:gs>
              </a:gsLst>
              <a:lin ang="8100000" scaled="0"/>
            </a:gradFill>
            <a:ln w="22225" cap="flat" cmpd="sng">
              <a:solidFill>
                <a:srgbClr val="A5A5A5"/>
              </a:solidFill>
              <a:prstDash val="solid"/>
              <a:miter lim="800000"/>
              <a:headEnd type="none" w="sm" len="sm"/>
              <a:tailEnd type="none" w="sm" len="sm"/>
            </a:ln>
            <a:effectLst>
              <a:outerShdw blurRad="139700" dist="762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name="adj" fmla="val 0"/>
              </a:avLst>
            </a:prstGeom>
            <a:solidFill>
              <a:srgbClr val="F2F2F2"/>
            </a:solidFill>
            <a:ln>
              <a:noFill/>
            </a:ln>
            <a:effectLst>
              <a:outerShdw blurRad="177800" dist="88900" dir="2700000" algn="tl"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3453213"/>
          </a:xfrm>
          <a:prstGeom prst="rect">
            <a:avLst/>
          </a:prstGeom>
          <a:noFill/>
          <a:ln>
            <a:noFill/>
          </a:ln>
        </p:spPr>
        <p:txBody>
          <a:bodyPr spcFirstLastPara="1" wrap="square" lIns="91425" tIns="45700" rIns="91425" bIns="45700" anchor="t" anchorCtr="0">
            <a:spAutoFit/>
          </a:bodyPr>
          <a:lstStyle/>
          <a:p>
            <a:pPr lvl="0">
              <a:lnSpc>
                <a:spcPct val="130000"/>
              </a:lnSpc>
              <a:buClr>
                <a:schemeClr val="dk1"/>
              </a:buClr>
              <a:buSzPts val="2800"/>
            </a:pPr>
            <a:r>
              <a:rPr lang="en-US" sz="2800" dirty="0" smtClean="0">
                <a:solidFill>
                  <a:schemeClr val="dk1"/>
                </a:solidFill>
                <a:latin typeface="Times New Roman"/>
                <a:ea typeface="Times New Roman"/>
                <a:cs typeface="Times New Roman"/>
                <a:sym typeface="Times New Roman"/>
              </a:rPr>
              <a:t>L</a:t>
            </a:r>
            <a:r>
              <a:rPr lang="vi-VN" sz="2800" dirty="0" smtClean="0">
                <a:solidFill>
                  <a:schemeClr val="dk1"/>
                </a:solidFill>
                <a:latin typeface="Times New Roman"/>
                <a:ea typeface="Times New Roman"/>
                <a:cs typeface="Times New Roman"/>
                <a:sym typeface="Times New Roman"/>
              </a:rPr>
              <a:t>à </a:t>
            </a:r>
            <a:r>
              <a:rPr lang="vi-VN" sz="2800" dirty="0">
                <a:solidFill>
                  <a:schemeClr val="dk1"/>
                </a:solidFill>
                <a:latin typeface="Times New Roman"/>
                <a:ea typeface="Times New Roman"/>
                <a:cs typeface="Times New Roman"/>
                <a:sym typeface="Times New Roman"/>
              </a:rPr>
              <a:t>một framework toàn diện giúp xây dựng các ứng dụng cấp doanh nghiệp bằng ngôn ngữ Java. Nó cung cấp nhiều tính năng nhằm đơn giản hóa các tác vụ phổ biến trong phát triển Java, chẳng hạn như </a:t>
            </a:r>
            <a:r>
              <a:rPr lang="en-US" sz="2800" dirty="0">
                <a:solidFill>
                  <a:schemeClr val="dk1"/>
                </a:solidFill>
                <a:latin typeface="Times New Roman"/>
                <a:ea typeface="Times New Roman"/>
                <a:cs typeface="Times New Roman"/>
                <a:sym typeface="Times New Roman"/>
              </a:rPr>
              <a:t>dependency injection, aspect-oriented programming, data access, and transaction </a:t>
            </a:r>
            <a:r>
              <a:rPr lang="en-US" sz="2800" dirty="0" smtClean="0">
                <a:solidFill>
                  <a:schemeClr val="dk1"/>
                </a:solidFill>
                <a:latin typeface="Times New Roman"/>
                <a:ea typeface="Times New Roman"/>
                <a:cs typeface="Times New Roman"/>
                <a:sym typeface="Times New Roman"/>
              </a:rPr>
              <a:t>management.</a:t>
            </a:r>
            <a:endParaRPr sz="2800"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animEffect transition="in" filter="fade">
                                      <p:cBhvr>
                                        <p:cTn id="15" dur="500"/>
                                        <p:tgtEl>
                                          <p:spTgt spid="4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8"/>
                                        </p:tgtEl>
                                        <p:attrNameLst>
                                          <p:attrName>style.visibility</p:attrName>
                                        </p:attrNameLst>
                                      </p:cBhvr>
                                      <p:to>
                                        <p:strVal val="visible"/>
                                      </p:to>
                                    </p:set>
                                    <p:animEffect transition="in" filter="fade">
                                      <p:cBhvr>
                                        <p:cTn id="20" dur="5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smtClean="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smtClean="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2931016" y="1995829"/>
            <a:ext cx="5789238" cy="4475783"/>
          </a:xfrm>
          <a:prstGeom prst="rect">
            <a:avLst/>
          </a:prstGeom>
        </p:spPr>
      </p:pic>
    </p:spTree>
    <p:extLst>
      <p:ext uri="{BB962C8B-B14F-4D97-AF65-F5344CB8AC3E}">
        <p14:creationId xmlns:p14="http://schemas.microsoft.com/office/powerpoint/2010/main" val="2478890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smtClean="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smtClean="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name="adj" fmla="val 4670"/>
              </a:avLst>
            </a:prstGeom>
            <a:gradFill>
              <a:gsLst>
                <a:gs pos="0">
                  <a:srgbClr val="7F7F7F"/>
                </a:gs>
                <a:gs pos="100000">
                  <a:srgbClr val="3F3F3F"/>
                </a:gs>
              </a:gsLst>
              <a:lin ang="8100000" scaled="0"/>
            </a:gradFill>
            <a:ln w="22225" cap="flat" cmpd="sng">
              <a:solidFill>
                <a:srgbClr val="A5A5A5"/>
              </a:solidFill>
              <a:prstDash val="solid"/>
              <a:miter lim="800000"/>
              <a:headEnd type="none" w="sm" len="sm"/>
              <a:tailEnd type="none" w="sm" len="sm"/>
            </a:ln>
            <a:effectLst>
              <a:outerShdw blurRad="139700" dist="762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name="adj" fmla="val 0"/>
              </a:avLst>
            </a:prstGeom>
            <a:solidFill>
              <a:srgbClr val="F2F2F2"/>
            </a:solidFill>
            <a:ln>
              <a:noFill/>
            </a:ln>
            <a:effectLst>
              <a:outerShdw blurRad="177800" dist="88900" dir="2700000" algn="tl"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3453213"/>
          </a:xfrm>
          <a:prstGeom prst="rect">
            <a:avLst/>
          </a:prstGeom>
          <a:noFill/>
          <a:ln>
            <a:noFill/>
          </a:ln>
        </p:spPr>
        <p:txBody>
          <a:bodyPr spcFirstLastPara="1" wrap="square" lIns="91425" tIns="45700" rIns="91425" bIns="45700" anchor="t" anchorCtr="0">
            <a:spAutoFit/>
          </a:bodyPr>
          <a:lstStyle/>
          <a:p>
            <a:pPr lvl="0">
              <a:lnSpc>
                <a:spcPct val="130000"/>
              </a:lnSpc>
              <a:buClr>
                <a:schemeClr val="dk1"/>
              </a:buClr>
              <a:buSzPts val="2800"/>
            </a:pPr>
            <a:r>
              <a:rPr lang="vi-VN" sz="2800" dirty="0" smtClean="0">
                <a:solidFill>
                  <a:schemeClr val="dk1"/>
                </a:solidFill>
                <a:latin typeface="Times New Roman"/>
                <a:ea typeface="Times New Roman"/>
                <a:cs typeface="Times New Roman"/>
                <a:sym typeface="Times New Roman"/>
              </a:rPr>
              <a:t>Dependency </a:t>
            </a:r>
            <a:r>
              <a:rPr lang="vi-VN" sz="2800" dirty="0">
                <a:solidFill>
                  <a:schemeClr val="dk1"/>
                </a:solidFill>
                <a:latin typeface="Times New Roman"/>
                <a:ea typeface="Times New Roman"/>
                <a:cs typeface="Times New Roman"/>
                <a:sym typeface="Times New Roman"/>
              </a:rPr>
              <a:t>Injection (DI) là một phương pháp để thực hiện IoC. DI là kỹ thuật mà trong đó các phụ thuộc của một đối tượng được "tiêm" vào thay vì được khởi tạo trong bản thân đối tượng đó. Trong DI, các phụ thuộc (dependencies) sẽ được truyền vào từ bên ngoài (inject vào), giúp mã giảm bớt sự phụ thuộc và dễ thay đổi.</a:t>
            </a:r>
            <a:endParaRPr lang="en-US" sz="28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4343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animEffect transition="in" filter="fade">
                                      <p:cBhvr>
                                        <p:cTn id="15" dur="500"/>
                                        <p:tgtEl>
                                          <p:spTgt spid="4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8"/>
                                        </p:tgtEl>
                                        <p:attrNameLst>
                                          <p:attrName>style.visibility</p:attrName>
                                        </p:attrNameLst>
                                      </p:cBhvr>
                                      <p:to>
                                        <p:strVal val="visible"/>
                                      </p:to>
                                    </p:set>
                                    <p:animEffect transition="in" filter="fade">
                                      <p:cBhvr>
                                        <p:cTn id="20" dur="5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name="adj" fmla="val 50000"/>
              </a:avLst>
            </a:prstGeom>
            <a:gradFill>
              <a:gsLst>
                <a:gs pos="0">
                  <a:srgbClr val="01ACBE"/>
                </a:gs>
                <a:gs pos="100000">
                  <a:srgbClr val="01DAF1"/>
                </a:gs>
              </a:gsLst>
              <a:lin ang="0" scaled="0"/>
            </a:gradFill>
            <a:ln w="19050" cap="flat" cmpd="sng">
              <a:solidFill>
                <a:srgbClr val="01DAF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8"/>
              <a:ext cx="774240" cy="66919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smtClean="0">
                  <a:solidFill>
                    <a:srgbClr val="01ACBE"/>
                  </a:solidFill>
                  <a:latin typeface="Impact"/>
                  <a:ea typeface="Impact"/>
                  <a:cs typeface="Impact"/>
                  <a:sym typeface="Impact"/>
                </a:rPr>
                <a:t>03</a:t>
              </a:r>
              <a:endParaRPr sz="2400" dirty="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smtClean="0">
                <a:solidFill>
                  <a:schemeClr val="lt1"/>
                </a:solidFill>
                <a:latin typeface="Times New Roman"/>
                <a:ea typeface="Times New Roman"/>
                <a:cs typeface="Times New Roman"/>
                <a:sym typeface="Times New Roman"/>
              </a:rPr>
              <a:t>Spring Framework</a:t>
            </a:r>
            <a:endParaRPr sz="2800" dirty="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name="adj" fmla="val 4670"/>
              </a:avLst>
            </a:prstGeom>
            <a:gradFill>
              <a:gsLst>
                <a:gs pos="0">
                  <a:srgbClr val="7F7F7F"/>
                </a:gs>
                <a:gs pos="100000">
                  <a:srgbClr val="3F3F3F"/>
                </a:gs>
              </a:gsLst>
              <a:lin ang="8100000" scaled="0"/>
            </a:gradFill>
            <a:ln w="22225" cap="flat" cmpd="sng">
              <a:solidFill>
                <a:srgbClr val="A5A5A5"/>
              </a:solidFill>
              <a:prstDash val="solid"/>
              <a:miter lim="800000"/>
              <a:headEnd type="none" w="sm" len="sm"/>
              <a:tailEnd type="none" w="sm" len="sm"/>
            </a:ln>
            <a:effectLst>
              <a:outerShdw blurRad="139700" dist="762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name="adj" fmla="val 0"/>
              </a:avLst>
            </a:prstGeom>
            <a:solidFill>
              <a:srgbClr val="F2F2F2"/>
            </a:solidFill>
            <a:ln>
              <a:noFill/>
            </a:ln>
            <a:effectLst>
              <a:outerShdw blurRad="177800" dist="88900" dir="2700000" algn="tl" rotWithShape="0">
                <a:srgbClr val="000000">
                  <a:alpha val="4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dist="127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name="adj" fmla="val 50000"/>
                  </a:avLst>
                </a:prstGeom>
                <a:gradFill>
                  <a:gsLst>
                    <a:gs pos="0">
                      <a:srgbClr val="7F7F7F"/>
                    </a:gs>
                    <a:gs pos="23000">
                      <a:srgbClr val="A5A5A5"/>
                    </a:gs>
                    <a:gs pos="52000">
                      <a:srgbClr val="D8D8D8"/>
                    </a:gs>
                    <a:gs pos="74000">
                      <a:schemeClr val="lt1"/>
                    </a:gs>
                    <a:gs pos="100000">
                      <a:srgbClr val="A5A5A5"/>
                    </a:gs>
                  </a:gsLst>
                  <a:lin ang="5400000" scaled="0"/>
                </a:gradFill>
                <a:ln w="19050" cap="flat" cmpd="sng">
                  <a:solidFill>
                    <a:srgbClr val="A5A5A5"/>
                  </a:solidFill>
                  <a:prstDash val="solid"/>
                  <a:miter lim="800000"/>
                  <a:headEnd type="none" w="sm" len="sm"/>
                  <a:tailEnd type="none" w="sm" len="sm"/>
                </a:ln>
                <a:effectLst>
                  <a:outerShdw blurRad="254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4013366"/>
          </a:xfrm>
          <a:prstGeom prst="rect">
            <a:avLst/>
          </a:prstGeom>
          <a:noFill/>
          <a:ln>
            <a:noFill/>
          </a:ln>
        </p:spPr>
        <p:txBody>
          <a:bodyPr spcFirstLastPara="1" wrap="square" lIns="91425" tIns="45700" rIns="91425" bIns="45700" anchor="t" anchorCtr="0">
            <a:spAutoFit/>
          </a:bodyPr>
          <a:lstStyle/>
          <a:p>
            <a:pPr lvl="0">
              <a:lnSpc>
                <a:spcPct val="130000"/>
              </a:lnSpc>
              <a:buClr>
                <a:schemeClr val="dk1"/>
              </a:buClr>
              <a:buSzPts val="2800"/>
            </a:pPr>
            <a:r>
              <a:rPr lang="vi-VN" sz="2800" dirty="0">
                <a:solidFill>
                  <a:schemeClr val="dk1"/>
                </a:solidFill>
                <a:latin typeface="Times New Roman"/>
                <a:ea typeface="Times New Roman"/>
                <a:cs typeface="Times New Roman"/>
                <a:sym typeface="Times New Roman"/>
              </a:rPr>
              <a:t>Inversion of Control (IoC) là một nguyên tắc thiết kế trong đó việc kiểm soát các đối tượng và sự phụ thuộc của chúng được chuyển từ chính đối tượng đó sang một framework hoặc container. Thay vì đối tượng tự tạo ra hoặc tự quản lý các phụ thuộc của nó, IoC cho phép một container (như Spring IoC Container) đảm nhiệm việc tạo và quản lý các đối tượng đó.</a:t>
            </a:r>
            <a:endParaRPr lang="en-US" sz="28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3324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04"/>
                                        </p:tgtEl>
                                        <p:attrNameLst>
                                          <p:attrName>style.visibility</p:attrName>
                                        </p:attrNameLst>
                                      </p:cBhvr>
                                      <p:to>
                                        <p:strVal val="visible"/>
                                      </p:to>
                                    </p:set>
                                    <p:anim calcmode="lin" valueType="num">
                                      <p:cBhvr additive="base">
                                        <p:cTn id="7" dur="500"/>
                                        <p:tgtEl>
                                          <p:spTgt spid="404"/>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 calcmode="lin" valueType="num">
                                      <p:cBhvr additive="base">
                                        <p:cTn id="10" dur="500"/>
                                        <p:tgtEl>
                                          <p:spTgt spid="401"/>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3"/>
                                        </p:tgtEl>
                                        <p:attrNameLst>
                                          <p:attrName>style.visibility</p:attrName>
                                        </p:attrNameLst>
                                      </p:cBhvr>
                                      <p:to>
                                        <p:strVal val="visible"/>
                                      </p:to>
                                    </p:set>
                                    <p:animEffect transition="in" filter="fade">
                                      <p:cBhvr>
                                        <p:cTn id="15" dur="500"/>
                                        <p:tgtEl>
                                          <p:spTgt spid="4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78"/>
                                        </p:tgtEl>
                                        <p:attrNameLst>
                                          <p:attrName>style.visibility</p:attrName>
                                        </p:attrNameLst>
                                      </p:cBhvr>
                                      <p:to>
                                        <p:strVal val="visible"/>
                                      </p:to>
                                    </p:set>
                                    <p:animEffect transition="in" filter="fade">
                                      <p:cBhvr>
                                        <p:cTn id="20" dur="5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884</TotalTime>
  <Words>410</Words>
  <Application>Microsoft Office PowerPoint</Application>
  <PresentationFormat>Widescreen</PresentationFormat>
  <Paragraphs>37</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Times New Roman</vt:lpstr>
      <vt:lpstr>Trebuchet MS</vt:lpstr>
      <vt:lpstr>Calibri</vt:lpstr>
      <vt:lpstr>Impact</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Loc Nguyen Viet (Khoi CNNH So)</cp:lastModifiedBy>
  <cp:revision>21</cp:revision>
  <dcterms:created xsi:type="dcterms:W3CDTF">2020-08-07T13:14:06Z</dcterms:created>
  <dcterms:modified xsi:type="dcterms:W3CDTF">2024-10-29T07:49:07Z</dcterms:modified>
</cp:coreProperties>
</file>