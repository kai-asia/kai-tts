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06" r:id="rId1"/>
  </p:sldMasterIdLst>
  <p:notesMasterIdLst>
    <p:notesMasterId r:id="rId7"/>
  </p:notesMasterIdLst>
  <p:sldIdLst>
    <p:sldId id="256" r:id="rId2"/>
    <p:sldId id="257" r:id="rId3"/>
    <p:sldId id="260" r:id="rId4"/>
    <p:sldId id="275" r:id="rId5"/>
    <p:sldId id="271" r:id="rId6"/>
  </p:sldIdLst>
  <p:sldSz cx="12192000" cy="6858000"/>
  <p:notesSz cx="6858000" cy="9144000"/>
  <p:embeddedFontLst>
    <p:embeddedFont>
      <p:font typeface="Impact" panose="020B0806030902050204" pitchFamily="34" charset="0"/>
      <p:regular r:id="rId8"/>
    </p:embeddedFont>
    <p:embeddedFont>
      <p:font typeface="Trebuchet MS" panose="020B0603020202020204" pitchFamily="34" charset="0"/>
      <p:regular r:id="rId9"/>
      <p:bold r:id="rId10"/>
      <p:italic r:id="rId11"/>
      <p:boldItalic r:id="rId12"/>
    </p:embeddedFont>
    <p:embeddedFont>
      <p:font typeface="Wingdings 3" panose="05040102010807070707" pitchFamily="18" charset="2"/>
      <p:regular r:id="rId13"/>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60" roundtripDataSignature="AMtx7mhrTw11pZgumZFE/jrXWOBqTLd87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91F6B73-016E-4EF7-82AD-10CAB8160629}">
  <a:tblStyle styleId="{791F6B73-016E-4EF7-82AD-10CAB8160629}"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308" autoAdjust="0"/>
    <p:restoredTop sz="94660"/>
  </p:normalViewPr>
  <p:slideViewPr>
    <p:cSldViewPr snapToGrid="0">
      <p:cViewPr varScale="1">
        <p:scale>
          <a:sx n="103" d="100"/>
          <a:sy n="103" d="100"/>
        </p:scale>
        <p:origin x="894" y="11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1.fntdata"/><Relationship Id="rId13" Type="http://schemas.openxmlformats.org/officeDocument/2006/relationships/font" Target="fonts/font6.fntdata"/><Relationship Id="rId16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notesMaster" Target="notesMasters/notesMaster1.xml"/><Relationship Id="rId12" Type="http://schemas.openxmlformats.org/officeDocument/2006/relationships/font" Target="fonts/font5.fntdata"/><Relationship Id="rId162" Type="http://schemas.openxmlformats.org/officeDocument/2006/relationships/viewProps" Target="viewProps.xml"/><Relationship Id="rId2" Type="http://schemas.openxmlformats.org/officeDocument/2006/relationships/slide" Target="slides/slide1.xml"/><Relationship Id="rId16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4.fntdata"/><Relationship Id="rId5" Type="http://schemas.openxmlformats.org/officeDocument/2006/relationships/slide" Target="slides/slide4.xml"/><Relationship Id="rId160" Type="http://customschemas.google.com/relationships/presentationmetadata" Target="metadata"/><Relationship Id="rId10" Type="http://schemas.openxmlformats.org/officeDocument/2006/relationships/font" Target="fonts/font3.fntdata"/><Relationship Id="rId16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 name="Google Shape;61;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0" name="Google Shape;70;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5" name="Google Shape;185;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a:extLst>
            <a:ext uri="{FF2B5EF4-FFF2-40B4-BE49-F238E27FC236}">
              <a16:creationId xmlns:a16="http://schemas.microsoft.com/office/drawing/2014/main" id="{3D4EA1B6-43F7-3B31-3339-D18BE8F79B1B}"/>
            </a:ext>
          </a:extLst>
        </p:cNvPr>
        <p:cNvGrpSpPr/>
        <p:nvPr/>
      </p:nvGrpSpPr>
      <p:grpSpPr>
        <a:xfrm>
          <a:off x="0" y="0"/>
          <a:ext cx="0" cy="0"/>
          <a:chOff x="0" y="0"/>
          <a:chExt cx="0" cy="0"/>
        </a:xfrm>
      </p:grpSpPr>
      <p:sp>
        <p:nvSpPr>
          <p:cNvPr id="184" name="Google Shape;184;p5:notes">
            <a:extLst>
              <a:ext uri="{FF2B5EF4-FFF2-40B4-BE49-F238E27FC236}">
                <a16:creationId xmlns:a16="http://schemas.microsoft.com/office/drawing/2014/main" id="{630D3E3E-2727-65A2-4A27-30BA5D96FDF5}"/>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5" name="Google Shape;185;p5:notes">
            <a:extLst>
              <a:ext uri="{FF2B5EF4-FFF2-40B4-BE49-F238E27FC236}">
                <a16:creationId xmlns:a16="http://schemas.microsoft.com/office/drawing/2014/main" id="{678F1304-2206-ED60-6008-895D64A464A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309721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a:extLst>
            <a:ext uri="{FF2B5EF4-FFF2-40B4-BE49-F238E27FC236}">
              <a16:creationId xmlns:a16="http://schemas.microsoft.com/office/drawing/2014/main" id="{58CE3D3F-5609-D9CA-F9A3-EABD8AE349E3}"/>
            </a:ext>
          </a:extLst>
        </p:cNvPr>
        <p:cNvGrpSpPr/>
        <p:nvPr/>
      </p:nvGrpSpPr>
      <p:grpSpPr>
        <a:xfrm>
          <a:off x="0" y="0"/>
          <a:ext cx="0" cy="0"/>
          <a:chOff x="0" y="0"/>
          <a:chExt cx="0" cy="0"/>
        </a:xfrm>
      </p:grpSpPr>
      <p:sp>
        <p:nvSpPr>
          <p:cNvPr id="184" name="Google Shape;184;p5:notes">
            <a:extLst>
              <a:ext uri="{FF2B5EF4-FFF2-40B4-BE49-F238E27FC236}">
                <a16:creationId xmlns:a16="http://schemas.microsoft.com/office/drawing/2014/main" id="{530C47C0-905F-F6CF-ED02-7416DC61D11F}"/>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5" name="Google Shape;185;p5:notes">
            <a:extLst>
              <a:ext uri="{FF2B5EF4-FFF2-40B4-BE49-F238E27FC236}">
                <a16:creationId xmlns:a16="http://schemas.microsoft.com/office/drawing/2014/main" id="{EEB54981-97A9-E7AA-8BBE-20DB6095835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667015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9956931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8600625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332065846"/>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206733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253404690"/>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1653465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2961626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935593320"/>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385595816"/>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970130312"/>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391170249"/>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006596097"/>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14874148"/>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143468065"/>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282070796"/>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302104436"/>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763397001"/>
      </p:ext>
    </p:extLst>
  </p:cSld>
  <p:clrMap bg1="lt1" tx1="dk1" bg2="lt2" tx2="dk2" accent1="accent1" accent2="accent2" accent3="accent3" accent4="accent4" accent5="accent5" accent6="accent6" hlink="hlink" folHlink="folHlink"/>
  <p:sldLayoutIdLst>
    <p:sldLayoutId id="2147483707" r:id="rId1"/>
    <p:sldLayoutId id="2147483708" r:id="rId2"/>
    <p:sldLayoutId id="2147483709" r:id="rId3"/>
    <p:sldLayoutId id="2147483710" r:id="rId4"/>
    <p:sldLayoutId id="2147483711" r:id="rId5"/>
    <p:sldLayoutId id="2147483712" r:id="rId6"/>
    <p:sldLayoutId id="2147483713" r:id="rId7"/>
    <p:sldLayoutId id="2147483714" r:id="rId8"/>
    <p:sldLayoutId id="2147483715" r:id="rId9"/>
    <p:sldLayoutId id="2147483716" r:id="rId10"/>
    <p:sldLayoutId id="2147483717" r:id="rId11"/>
    <p:sldLayoutId id="2147483718" r:id="rId12"/>
    <p:sldLayoutId id="2147483719" r:id="rId13"/>
    <p:sldLayoutId id="2147483720" r:id="rId14"/>
    <p:sldLayoutId id="2147483721" r:id="rId15"/>
    <p:sldLayoutId id="2147483722" r:id="rId16"/>
  </p:sldLayoutIdLst>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hf sldNum="0"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4" name="Google Shape;64;p1"/>
          <p:cNvSpPr txBox="1"/>
          <p:nvPr/>
        </p:nvSpPr>
        <p:spPr>
          <a:xfrm>
            <a:off x="1676400" y="2819400"/>
            <a:ext cx="8915400" cy="92333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6000" b="0" i="0" u="none" strike="noStrike" cap="none" dirty="0">
                <a:solidFill>
                  <a:srgbClr val="154A8D"/>
                </a:solidFill>
                <a:latin typeface="Arial"/>
                <a:ea typeface="Arial"/>
                <a:cs typeface="Arial"/>
                <a:sym typeface="Arial"/>
              </a:rPr>
              <a:t>Java Backend</a:t>
            </a:r>
            <a:endParaRPr sz="6000" b="0" i="0" u="none" strike="noStrike" cap="none" dirty="0">
              <a:solidFill>
                <a:srgbClr val="154A8D"/>
              </a:solidFill>
              <a:latin typeface="Arial"/>
              <a:ea typeface="Arial"/>
              <a:cs typeface="Arial"/>
              <a:sym typeface="Arial"/>
            </a:endParaRPr>
          </a:p>
        </p:txBody>
      </p:sp>
      <p:pic>
        <p:nvPicPr>
          <p:cNvPr id="66" name="Google Shape;66;p1"/>
          <p:cNvPicPr preferRelativeResize="0"/>
          <p:nvPr/>
        </p:nvPicPr>
        <p:blipFill rotWithShape="1">
          <a:blip r:embed="rId3">
            <a:alphaModFix/>
          </a:blip>
          <a:srcRect/>
          <a:stretch/>
        </p:blipFill>
        <p:spPr>
          <a:xfrm>
            <a:off x="5162022" y="914400"/>
            <a:ext cx="7445124" cy="5029200"/>
          </a:xfrm>
          <a:prstGeom prst="rect">
            <a:avLst/>
          </a:prstGeom>
          <a:noFill/>
          <a:ln>
            <a:noFill/>
          </a:ln>
        </p:spPr>
      </p:pic>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grpSp>
        <p:nvGrpSpPr>
          <p:cNvPr id="75" name="Google Shape;75;p2"/>
          <p:cNvGrpSpPr/>
          <p:nvPr/>
        </p:nvGrpSpPr>
        <p:grpSpPr>
          <a:xfrm>
            <a:off x="358627" y="2689935"/>
            <a:ext cx="1930140" cy="1756753"/>
            <a:chOff x="2553093" y="952901"/>
            <a:chExt cx="2096908" cy="1866900"/>
          </a:xfrm>
        </p:grpSpPr>
        <p:sp>
          <p:nvSpPr>
            <p:cNvPr id="76" name="Google Shape;76;p2"/>
            <p:cNvSpPr/>
            <p:nvPr/>
          </p:nvSpPr>
          <p:spPr>
            <a:xfrm>
              <a:off x="2553093" y="952901"/>
              <a:ext cx="1866900" cy="1866900"/>
            </a:xfrm>
            <a:prstGeom prst="ellipse">
              <a:avLst/>
            </a:prstGeom>
            <a:gradFill>
              <a:gsLst>
                <a:gs pos="0">
                  <a:srgbClr val="F5F5F5"/>
                </a:gs>
                <a:gs pos="100000">
                  <a:srgbClr val="D8D8D8"/>
                </a:gs>
              </a:gsLst>
              <a:lin ang="2700000" scaled="0"/>
            </a:gradFill>
            <a:ln w="22225"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2800" b="0" i="0" u="none" strike="noStrike" cap="none">
                <a:solidFill>
                  <a:srgbClr val="FFFFFF"/>
                </a:solidFill>
                <a:latin typeface="Arial"/>
                <a:ea typeface="Arial"/>
                <a:cs typeface="Arial"/>
                <a:sym typeface="Arial"/>
              </a:endParaRPr>
            </a:p>
          </p:txBody>
        </p:sp>
        <p:sp>
          <p:nvSpPr>
            <p:cNvPr id="77" name="Google Shape;77;p2"/>
            <p:cNvSpPr/>
            <p:nvPr/>
          </p:nvSpPr>
          <p:spPr>
            <a:xfrm>
              <a:off x="3008704" y="1150504"/>
              <a:ext cx="1429346" cy="1429345"/>
            </a:xfrm>
            <a:prstGeom prst="ellipse">
              <a:avLst/>
            </a:prstGeom>
            <a:solidFill>
              <a:srgbClr val="F2F2F2"/>
            </a:solidFill>
            <a:ln w="22225" cap="flat" cmpd="sng">
              <a:solidFill>
                <a:srgbClr val="BFBFB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800" b="0" i="0" u="none" strike="noStrike" cap="none">
                <a:solidFill>
                  <a:srgbClr val="FFFFFF"/>
                </a:solidFill>
                <a:latin typeface="Arial"/>
                <a:ea typeface="Arial"/>
                <a:cs typeface="Arial"/>
                <a:sym typeface="Arial"/>
              </a:endParaRPr>
            </a:p>
          </p:txBody>
        </p:sp>
        <p:sp>
          <p:nvSpPr>
            <p:cNvPr id="78" name="Google Shape;78;p2"/>
            <p:cNvSpPr txBox="1"/>
            <p:nvPr/>
          </p:nvSpPr>
          <p:spPr>
            <a:xfrm>
              <a:off x="2783718" y="1324275"/>
              <a:ext cx="1866283" cy="127243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b="1" i="0" u="none" strike="noStrike" cap="none">
                  <a:solidFill>
                    <a:srgbClr val="663A77"/>
                  </a:solidFill>
                  <a:latin typeface="Times New Roman"/>
                  <a:ea typeface="Times New Roman"/>
                  <a:cs typeface="Times New Roman"/>
                  <a:sym typeface="Times New Roman"/>
                </a:rPr>
                <a:t>NỘI DUNG</a:t>
              </a:r>
              <a:endParaRPr sz="2800" b="1" i="0" u="none" strike="noStrike" cap="none">
                <a:solidFill>
                  <a:srgbClr val="663A77"/>
                </a:solidFill>
                <a:latin typeface="Times New Roman"/>
                <a:ea typeface="Times New Roman"/>
                <a:cs typeface="Times New Roman"/>
                <a:sym typeface="Times New Roman"/>
              </a:endParaRPr>
            </a:p>
          </p:txBody>
        </p:sp>
      </p:grpSp>
      <p:grpSp>
        <p:nvGrpSpPr>
          <p:cNvPr id="79" name="Google Shape;79;p2"/>
          <p:cNvGrpSpPr/>
          <p:nvPr/>
        </p:nvGrpSpPr>
        <p:grpSpPr>
          <a:xfrm>
            <a:off x="2139124" y="1571215"/>
            <a:ext cx="805150" cy="718592"/>
            <a:chOff x="3262497" y="1084626"/>
            <a:chExt cx="1126854" cy="958123"/>
          </a:xfrm>
        </p:grpSpPr>
        <p:grpSp>
          <p:nvGrpSpPr>
            <p:cNvPr id="80" name="Google Shape;80;p2"/>
            <p:cNvGrpSpPr/>
            <p:nvPr/>
          </p:nvGrpSpPr>
          <p:grpSpPr>
            <a:xfrm>
              <a:off x="3262497" y="1084626"/>
              <a:ext cx="1126854" cy="958123"/>
              <a:chOff x="2892834" y="1141776"/>
              <a:chExt cx="1126854" cy="958123"/>
            </a:xfrm>
          </p:grpSpPr>
          <p:sp>
            <p:nvSpPr>
              <p:cNvPr id="81" name="Google Shape;81;p2"/>
              <p:cNvSpPr/>
              <p:nvPr/>
            </p:nvSpPr>
            <p:spPr>
              <a:xfrm>
                <a:off x="2943363" y="1141776"/>
                <a:ext cx="1076325" cy="958123"/>
              </a:xfrm>
              <a:prstGeom prst="roundRect">
                <a:avLst>
                  <a:gd name="adj" fmla="val 13889"/>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800" b="0" i="0" u="none" strike="noStrike" cap="none">
                  <a:solidFill>
                    <a:schemeClr val="lt1"/>
                  </a:solidFill>
                  <a:latin typeface="Arial"/>
                  <a:ea typeface="Arial"/>
                  <a:cs typeface="Arial"/>
                  <a:sym typeface="Arial"/>
                </a:endParaRPr>
              </a:p>
            </p:txBody>
          </p:sp>
          <p:sp>
            <p:nvSpPr>
              <p:cNvPr id="82" name="Google Shape;82;p2"/>
              <p:cNvSpPr/>
              <p:nvPr/>
            </p:nvSpPr>
            <p:spPr>
              <a:xfrm>
                <a:off x="2892834" y="1178024"/>
                <a:ext cx="1063215" cy="901028"/>
              </a:xfrm>
              <a:prstGeom prst="roundRect">
                <a:avLst>
                  <a:gd name="adj" fmla="val 13889"/>
                </a:avLst>
              </a:prstGeom>
              <a:solidFill>
                <a:srgbClr val="FFB85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800" b="0" i="0" u="none" strike="noStrike" cap="none">
                  <a:solidFill>
                    <a:schemeClr val="lt1"/>
                  </a:solidFill>
                  <a:latin typeface="Arial"/>
                  <a:ea typeface="Arial"/>
                  <a:cs typeface="Arial"/>
                  <a:sym typeface="Arial"/>
                </a:endParaRPr>
              </a:p>
            </p:txBody>
          </p:sp>
        </p:grpSp>
        <p:sp>
          <p:nvSpPr>
            <p:cNvPr id="83" name="Google Shape;83;p2"/>
            <p:cNvSpPr txBox="1"/>
            <p:nvPr/>
          </p:nvSpPr>
          <p:spPr>
            <a:xfrm>
              <a:off x="3266480" y="1209433"/>
              <a:ext cx="1030515" cy="69762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b="0" i="0" u="none" strike="noStrike" cap="none">
                  <a:solidFill>
                    <a:schemeClr val="lt1"/>
                  </a:solidFill>
                  <a:latin typeface="Impact"/>
                  <a:ea typeface="Impact"/>
                  <a:cs typeface="Impact"/>
                  <a:sym typeface="Impact"/>
                </a:rPr>
                <a:t>01</a:t>
              </a:r>
              <a:endParaRPr sz="2800" b="0" i="0" u="none" strike="noStrike" cap="none">
                <a:solidFill>
                  <a:schemeClr val="lt1"/>
                </a:solidFill>
                <a:latin typeface="Impact"/>
                <a:ea typeface="Impact"/>
                <a:cs typeface="Impact"/>
                <a:sym typeface="Impact"/>
              </a:endParaRPr>
            </a:p>
          </p:txBody>
        </p:sp>
      </p:grpSp>
      <p:grpSp>
        <p:nvGrpSpPr>
          <p:cNvPr id="84" name="Google Shape;84;p2"/>
          <p:cNvGrpSpPr/>
          <p:nvPr/>
        </p:nvGrpSpPr>
        <p:grpSpPr>
          <a:xfrm>
            <a:off x="2143179" y="2408314"/>
            <a:ext cx="801094" cy="803410"/>
            <a:chOff x="3142025" y="2335585"/>
            <a:chExt cx="1161462" cy="966191"/>
          </a:xfrm>
        </p:grpSpPr>
        <p:grpSp>
          <p:nvGrpSpPr>
            <p:cNvPr id="85" name="Google Shape;85;p2"/>
            <p:cNvGrpSpPr/>
            <p:nvPr/>
          </p:nvGrpSpPr>
          <p:grpSpPr>
            <a:xfrm>
              <a:off x="3155526" y="2335585"/>
              <a:ext cx="1147961" cy="966191"/>
              <a:chOff x="2785863" y="1141409"/>
              <a:chExt cx="1147961" cy="966191"/>
            </a:xfrm>
          </p:grpSpPr>
          <p:sp>
            <p:nvSpPr>
              <p:cNvPr id="86" name="Google Shape;86;p2"/>
              <p:cNvSpPr/>
              <p:nvPr/>
            </p:nvSpPr>
            <p:spPr>
              <a:xfrm>
                <a:off x="2857499" y="1149477"/>
                <a:ext cx="1076325" cy="958123"/>
              </a:xfrm>
              <a:prstGeom prst="roundRect">
                <a:avLst>
                  <a:gd name="adj" fmla="val 13889"/>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800" b="0" i="0" u="none" strike="noStrike" cap="none">
                  <a:solidFill>
                    <a:schemeClr val="lt1"/>
                  </a:solidFill>
                  <a:latin typeface="Arial"/>
                  <a:ea typeface="Arial"/>
                  <a:cs typeface="Arial"/>
                  <a:sym typeface="Arial"/>
                </a:endParaRPr>
              </a:p>
            </p:txBody>
          </p:sp>
          <p:sp>
            <p:nvSpPr>
              <p:cNvPr id="87" name="Google Shape;87;p2"/>
              <p:cNvSpPr/>
              <p:nvPr/>
            </p:nvSpPr>
            <p:spPr>
              <a:xfrm>
                <a:off x="2785863" y="1141409"/>
                <a:ext cx="1063215" cy="901028"/>
              </a:xfrm>
              <a:prstGeom prst="roundRect">
                <a:avLst>
                  <a:gd name="adj" fmla="val 13889"/>
                </a:avLst>
              </a:prstGeom>
              <a:solidFill>
                <a:srgbClr val="01ACB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800" b="0" i="0" u="none" strike="noStrike" cap="none">
                  <a:solidFill>
                    <a:schemeClr val="lt1"/>
                  </a:solidFill>
                  <a:latin typeface="Arial"/>
                  <a:ea typeface="Arial"/>
                  <a:cs typeface="Arial"/>
                  <a:sym typeface="Arial"/>
                </a:endParaRPr>
              </a:p>
            </p:txBody>
          </p:sp>
        </p:grpSp>
        <p:sp>
          <p:nvSpPr>
            <p:cNvPr id="88" name="Google Shape;88;p2"/>
            <p:cNvSpPr txBox="1"/>
            <p:nvPr/>
          </p:nvSpPr>
          <p:spPr>
            <a:xfrm>
              <a:off x="3142025" y="2450258"/>
              <a:ext cx="1088129" cy="6292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b="0" i="0" u="none" strike="noStrike" cap="none">
                  <a:solidFill>
                    <a:schemeClr val="lt1"/>
                  </a:solidFill>
                  <a:latin typeface="Impact"/>
                  <a:ea typeface="Impact"/>
                  <a:cs typeface="Impact"/>
                  <a:sym typeface="Impact"/>
                </a:rPr>
                <a:t>02</a:t>
              </a:r>
              <a:endParaRPr sz="2800" b="0" i="0" u="none" strike="noStrike" cap="none">
                <a:solidFill>
                  <a:schemeClr val="lt1"/>
                </a:solidFill>
                <a:latin typeface="Impact"/>
                <a:ea typeface="Impact"/>
                <a:cs typeface="Impact"/>
                <a:sym typeface="Impact"/>
              </a:endParaRPr>
            </a:p>
          </p:txBody>
        </p:sp>
      </p:grpSp>
      <p:grpSp>
        <p:nvGrpSpPr>
          <p:cNvPr id="89" name="Google Shape;89;p2"/>
          <p:cNvGrpSpPr/>
          <p:nvPr/>
        </p:nvGrpSpPr>
        <p:grpSpPr>
          <a:xfrm>
            <a:off x="2116678" y="3258986"/>
            <a:ext cx="787200" cy="718592"/>
            <a:chOff x="3227162" y="3591385"/>
            <a:chExt cx="1089578" cy="958123"/>
          </a:xfrm>
        </p:grpSpPr>
        <p:grpSp>
          <p:nvGrpSpPr>
            <p:cNvPr id="90" name="Google Shape;90;p2"/>
            <p:cNvGrpSpPr/>
            <p:nvPr/>
          </p:nvGrpSpPr>
          <p:grpSpPr>
            <a:xfrm>
              <a:off x="3227162" y="3591385"/>
              <a:ext cx="1089578" cy="958123"/>
              <a:chOff x="2857499" y="1149477"/>
              <a:chExt cx="1089578" cy="958123"/>
            </a:xfrm>
          </p:grpSpPr>
          <p:sp>
            <p:nvSpPr>
              <p:cNvPr id="91" name="Google Shape;91;p2"/>
              <p:cNvSpPr/>
              <p:nvPr/>
            </p:nvSpPr>
            <p:spPr>
              <a:xfrm>
                <a:off x="2857499" y="1149477"/>
                <a:ext cx="1076325" cy="958123"/>
              </a:xfrm>
              <a:prstGeom prst="roundRect">
                <a:avLst>
                  <a:gd name="adj" fmla="val 13889"/>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800" b="0" i="0" u="none" strike="noStrike" cap="none">
                  <a:solidFill>
                    <a:schemeClr val="lt1"/>
                  </a:solidFill>
                  <a:latin typeface="Arial"/>
                  <a:ea typeface="Arial"/>
                  <a:cs typeface="Arial"/>
                  <a:sym typeface="Arial"/>
                </a:endParaRPr>
              </a:p>
            </p:txBody>
          </p:sp>
          <p:sp>
            <p:nvSpPr>
              <p:cNvPr id="92" name="Google Shape;92;p2"/>
              <p:cNvSpPr/>
              <p:nvPr/>
            </p:nvSpPr>
            <p:spPr>
              <a:xfrm>
                <a:off x="2883862" y="1159582"/>
                <a:ext cx="1063215" cy="901028"/>
              </a:xfrm>
              <a:prstGeom prst="roundRect">
                <a:avLst>
                  <a:gd name="adj" fmla="val 13889"/>
                </a:avLst>
              </a:prstGeom>
              <a:solidFill>
                <a:srgbClr val="E8707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800" b="0" i="0" u="none" strike="noStrike" cap="none">
                  <a:solidFill>
                    <a:schemeClr val="lt1"/>
                  </a:solidFill>
                  <a:latin typeface="Arial"/>
                  <a:ea typeface="Arial"/>
                  <a:cs typeface="Arial"/>
                  <a:sym typeface="Arial"/>
                </a:endParaRPr>
              </a:p>
            </p:txBody>
          </p:sp>
        </p:grpSp>
        <p:sp>
          <p:nvSpPr>
            <p:cNvPr id="93" name="Google Shape;93;p2"/>
            <p:cNvSpPr txBox="1"/>
            <p:nvPr/>
          </p:nvSpPr>
          <p:spPr>
            <a:xfrm>
              <a:off x="3250771" y="3701112"/>
              <a:ext cx="1030515" cy="69762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b="0" i="0" u="none" strike="noStrike" cap="none">
                  <a:solidFill>
                    <a:schemeClr val="lt1"/>
                  </a:solidFill>
                  <a:latin typeface="Impact"/>
                  <a:ea typeface="Impact"/>
                  <a:cs typeface="Impact"/>
                  <a:sym typeface="Impact"/>
                </a:rPr>
                <a:t>03</a:t>
              </a:r>
              <a:endParaRPr sz="2800" b="0" i="0" u="none" strike="noStrike" cap="none">
                <a:solidFill>
                  <a:schemeClr val="lt1"/>
                </a:solidFill>
                <a:latin typeface="Impact"/>
                <a:ea typeface="Impact"/>
                <a:cs typeface="Impact"/>
                <a:sym typeface="Impact"/>
              </a:endParaRPr>
            </a:p>
          </p:txBody>
        </p:sp>
      </p:grpSp>
      <p:grpSp>
        <p:nvGrpSpPr>
          <p:cNvPr id="99" name="Google Shape;99;p2"/>
          <p:cNvGrpSpPr/>
          <p:nvPr/>
        </p:nvGrpSpPr>
        <p:grpSpPr>
          <a:xfrm>
            <a:off x="3315327" y="1598401"/>
            <a:ext cx="6428734" cy="675771"/>
            <a:chOff x="4555084" y="1092328"/>
            <a:chExt cx="4697323" cy="1150809"/>
          </a:xfrm>
        </p:grpSpPr>
        <p:pic>
          <p:nvPicPr>
            <p:cNvPr id="100" name="Google Shape;100;p2"/>
            <p:cNvPicPr preferRelativeResize="0"/>
            <p:nvPr/>
          </p:nvPicPr>
          <p:blipFill rotWithShape="1">
            <a:blip r:embed="rId3">
              <a:alphaModFix/>
            </a:blip>
            <a:srcRect t="76775"/>
            <a:stretch/>
          </p:blipFill>
          <p:spPr>
            <a:xfrm>
              <a:off x="4926460" y="2041830"/>
              <a:ext cx="3646270" cy="201307"/>
            </a:xfrm>
            <a:prstGeom prst="rect">
              <a:avLst/>
            </a:prstGeom>
            <a:noFill/>
            <a:ln>
              <a:noFill/>
            </a:ln>
          </p:spPr>
        </p:pic>
        <p:grpSp>
          <p:nvGrpSpPr>
            <p:cNvPr id="101" name="Google Shape;101;p2"/>
            <p:cNvGrpSpPr/>
            <p:nvPr/>
          </p:nvGrpSpPr>
          <p:grpSpPr>
            <a:xfrm>
              <a:off x="4555084" y="1092328"/>
              <a:ext cx="4697323" cy="974451"/>
              <a:chOff x="4555084" y="1092328"/>
              <a:chExt cx="4697323" cy="974451"/>
            </a:xfrm>
          </p:grpSpPr>
          <p:pic>
            <p:nvPicPr>
              <p:cNvPr id="102" name="Google Shape;102;p2"/>
              <p:cNvPicPr preferRelativeResize="0"/>
              <p:nvPr/>
            </p:nvPicPr>
            <p:blipFill rotWithShape="1">
              <a:blip r:embed="rId3">
                <a:alphaModFix/>
              </a:blip>
              <a:srcRect t="76775"/>
              <a:stretch/>
            </p:blipFill>
            <p:spPr>
              <a:xfrm rot="-5400000">
                <a:off x="8600149" y="1414521"/>
                <a:ext cx="958122" cy="346394"/>
              </a:xfrm>
              <a:prstGeom prst="rect">
                <a:avLst/>
              </a:prstGeom>
              <a:noFill/>
              <a:ln>
                <a:noFill/>
              </a:ln>
            </p:spPr>
          </p:pic>
          <p:sp>
            <p:nvSpPr>
              <p:cNvPr id="103" name="Google Shape;103;p2"/>
              <p:cNvSpPr/>
              <p:nvPr/>
            </p:nvSpPr>
            <p:spPr>
              <a:xfrm>
                <a:off x="4555084" y="1092328"/>
                <a:ext cx="4389024" cy="958122"/>
              </a:xfrm>
              <a:prstGeom prst="roundRect">
                <a:avLst>
                  <a:gd name="adj" fmla="val 9218"/>
                </a:avLst>
              </a:prstGeom>
              <a:gradFill>
                <a:gsLst>
                  <a:gs pos="0">
                    <a:srgbClr val="FDFDFD"/>
                  </a:gs>
                  <a:gs pos="47000">
                    <a:srgbClr val="FDFDFD"/>
                  </a:gs>
                  <a:gs pos="52999">
                    <a:srgbClr val="E8E8E8"/>
                  </a:gs>
                  <a:gs pos="100000">
                    <a:srgbClr val="ECECEC"/>
                  </a:gs>
                </a:gsLst>
                <a:lin ang="5400000" scaled="0"/>
              </a:gradFill>
              <a:ln>
                <a:noFill/>
              </a:ln>
              <a:effectLst>
                <a:outerShdw blurRad="76200" dist="38100" dir="2700000" algn="tl" rotWithShape="0">
                  <a:srgbClr val="000000">
                    <a:alpha val="1372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2800" b="0" i="0" u="none" strike="noStrike" cap="none">
                  <a:solidFill>
                    <a:schemeClr val="lt1"/>
                  </a:solidFill>
                  <a:latin typeface="Arial"/>
                  <a:ea typeface="Arial"/>
                  <a:cs typeface="Arial"/>
                  <a:sym typeface="Arial"/>
                </a:endParaRPr>
              </a:p>
            </p:txBody>
          </p:sp>
        </p:grpSp>
      </p:grpSp>
      <p:grpSp>
        <p:nvGrpSpPr>
          <p:cNvPr id="104" name="Google Shape;104;p2"/>
          <p:cNvGrpSpPr/>
          <p:nvPr/>
        </p:nvGrpSpPr>
        <p:grpSpPr>
          <a:xfrm>
            <a:off x="3224702" y="2413585"/>
            <a:ext cx="6523831" cy="735609"/>
            <a:chOff x="4555084" y="2343654"/>
            <a:chExt cx="4697324" cy="1145415"/>
          </a:xfrm>
        </p:grpSpPr>
        <p:pic>
          <p:nvPicPr>
            <p:cNvPr id="105" name="Google Shape;105;p2"/>
            <p:cNvPicPr preferRelativeResize="0"/>
            <p:nvPr/>
          </p:nvPicPr>
          <p:blipFill rotWithShape="1">
            <a:blip r:embed="rId3">
              <a:alphaModFix/>
            </a:blip>
            <a:srcRect t="76775"/>
            <a:stretch/>
          </p:blipFill>
          <p:spPr>
            <a:xfrm>
              <a:off x="4926460" y="3287762"/>
              <a:ext cx="3646270" cy="201307"/>
            </a:xfrm>
            <a:prstGeom prst="rect">
              <a:avLst/>
            </a:prstGeom>
            <a:noFill/>
            <a:ln>
              <a:noFill/>
            </a:ln>
          </p:spPr>
        </p:pic>
        <p:grpSp>
          <p:nvGrpSpPr>
            <p:cNvPr id="106" name="Google Shape;106;p2"/>
            <p:cNvGrpSpPr/>
            <p:nvPr/>
          </p:nvGrpSpPr>
          <p:grpSpPr>
            <a:xfrm>
              <a:off x="4555084" y="2343654"/>
              <a:ext cx="4697324" cy="974451"/>
              <a:chOff x="4555084" y="2343654"/>
              <a:chExt cx="4697324" cy="974451"/>
            </a:xfrm>
          </p:grpSpPr>
          <p:pic>
            <p:nvPicPr>
              <p:cNvPr id="107" name="Google Shape;107;p2"/>
              <p:cNvPicPr preferRelativeResize="0"/>
              <p:nvPr/>
            </p:nvPicPr>
            <p:blipFill rotWithShape="1">
              <a:blip r:embed="rId3">
                <a:alphaModFix/>
              </a:blip>
              <a:srcRect t="76775"/>
              <a:stretch/>
            </p:blipFill>
            <p:spPr>
              <a:xfrm rot="-5400000">
                <a:off x="8600150" y="2665847"/>
                <a:ext cx="958122" cy="346394"/>
              </a:xfrm>
              <a:prstGeom prst="rect">
                <a:avLst/>
              </a:prstGeom>
              <a:noFill/>
              <a:ln>
                <a:noFill/>
              </a:ln>
            </p:spPr>
          </p:pic>
          <p:sp>
            <p:nvSpPr>
              <p:cNvPr id="108" name="Google Shape;108;p2"/>
              <p:cNvSpPr/>
              <p:nvPr/>
            </p:nvSpPr>
            <p:spPr>
              <a:xfrm>
                <a:off x="4555084" y="2343654"/>
                <a:ext cx="4389024" cy="958122"/>
              </a:xfrm>
              <a:prstGeom prst="roundRect">
                <a:avLst>
                  <a:gd name="adj" fmla="val 9218"/>
                </a:avLst>
              </a:prstGeom>
              <a:gradFill>
                <a:gsLst>
                  <a:gs pos="0">
                    <a:srgbClr val="FDFDFD"/>
                  </a:gs>
                  <a:gs pos="47000">
                    <a:srgbClr val="FDFDFD"/>
                  </a:gs>
                  <a:gs pos="52999">
                    <a:srgbClr val="E8E8E8"/>
                  </a:gs>
                  <a:gs pos="100000">
                    <a:srgbClr val="ECECEC"/>
                  </a:gs>
                </a:gsLst>
                <a:lin ang="5400000" scaled="0"/>
              </a:gradFill>
              <a:ln>
                <a:noFill/>
              </a:ln>
              <a:effectLst>
                <a:outerShdw blurRad="76200" dist="38100" dir="2700000" algn="tl" rotWithShape="0">
                  <a:srgbClr val="000000">
                    <a:alpha val="1372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2800" b="0" i="0" u="none" strike="noStrike" cap="none" dirty="0">
                  <a:solidFill>
                    <a:schemeClr val="lt1"/>
                  </a:solidFill>
                  <a:latin typeface="Arial"/>
                  <a:ea typeface="Arial"/>
                  <a:cs typeface="Arial"/>
                  <a:sym typeface="Arial"/>
                </a:endParaRPr>
              </a:p>
            </p:txBody>
          </p:sp>
        </p:grpSp>
      </p:grpSp>
      <p:grpSp>
        <p:nvGrpSpPr>
          <p:cNvPr id="109" name="Google Shape;109;p2"/>
          <p:cNvGrpSpPr/>
          <p:nvPr/>
        </p:nvGrpSpPr>
        <p:grpSpPr>
          <a:xfrm>
            <a:off x="3227203" y="3260108"/>
            <a:ext cx="6521206" cy="682227"/>
            <a:chOff x="4555084" y="3594980"/>
            <a:chExt cx="4697325" cy="1150703"/>
          </a:xfrm>
        </p:grpSpPr>
        <p:pic>
          <p:nvPicPr>
            <p:cNvPr id="110" name="Google Shape;110;p2"/>
            <p:cNvPicPr preferRelativeResize="0"/>
            <p:nvPr/>
          </p:nvPicPr>
          <p:blipFill rotWithShape="1">
            <a:blip r:embed="rId3">
              <a:alphaModFix/>
            </a:blip>
            <a:srcRect t="76775"/>
            <a:stretch/>
          </p:blipFill>
          <p:spPr>
            <a:xfrm>
              <a:off x="4926460" y="4544376"/>
              <a:ext cx="3646270" cy="201307"/>
            </a:xfrm>
            <a:prstGeom prst="rect">
              <a:avLst/>
            </a:prstGeom>
            <a:noFill/>
            <a:ln>
              <a:noFill/>
            </a:ln>
          </p:spPr>
        </p:pic>
        <p:grpSp>
          <p:nvGrpSpPr>
            <p:cNvPr id="111" name="Google Shape;111;p2"/>
            <p:cNvGrpSpPr/>
            <p:nvPr/>
          </p:nvGrpSpPr>
          <p:grpSpPr>
            <a:xfrm>
              <a:off x="4555084" y="3594980"/>
              <a:ext cx="4697325" cy="974450"/>
              <a:chOff x="4555084" y="3594980"/>
              <a:chExt cx="4697325" cy="974450"/>
            </a:xfrm>
          </p:grpSpPr>
          <p:pic>
            <p:nvPicPr>
              <p:cNvPr id="112" name="Google Shape;112;p2"/>
              <p:cNvPicPr preferRelativeResize="0"/>
              <p:nvPr/>
            </p:nvPicPr>
            <p:blipFill rotWithShape="1">
              <a:blip r:embed="rId3">
                <a:alphaModFix/>
              </a:blip>
              <a:srcRect t="76775"/>
              <a:stretch/>
            </p:blipFill>
            <p:spPr>
              <a:xfrm rot="-5400000">
                <a:off x="8600151" y="3917172"/>
                <a:ext cx="958122" cy="346394"/>
              </a:xfrm>
              <a:prstGeom prst="rect">
                <a:avLst/>
              </a:prstGeom>
              <a:noFill/>
              <a:ln>
                <a:noFill/>
              </a:ln>
            </p:spPr>
          </p:pic>
          <p:sp>
            <p:nvSpPr>
              <p:cNvPr id="113" name="Google Shape;113;p2"/>
              <p:cNvSpPr/>
              <p:nvPr/>
            </p:nvSpPr>
            <p:spPr>
              <a:xfrm>
                <a:off x="4555084" y="3594980"/>
                <a:ext cx="4389024" cy="958122"/>
              </a:xfrm>
              <a:prstGeom prst="roundRect">
                <a:avLst>
                  <a:gd name="adj" fmla="val 9218"/>
                </a:avLst>
              </a:prstGeom>
              <a:gradFill>
                <a:gsLst>
                  <a:gs pos="0">
                    <a:srgbClr val="FDFDFD"/>
                  </a:gs>
                  <a:gs pos="47000">
                    <a:srgbClr val="FDFDFD"/>
                  </a:gs>
                  <a:gs pos="52999">
                    <a:srgbClr val="E8E8E8"/>
                  </a:gs>
                  <a:gs pos="100000">
                    <a:srgbClr val="ECECEC"/>
                  </a:gs>
                </a:gsLst>
                <a:lin ang="5400000" scaled="0"/>
              </a:gradFill>
              <a:ln>
                <a:noFill/>
              </a:ln>
              <a:effectLst>
                <a:outerShdw blurRad="76200" dist="38100" dir="2700000" algn="tl" rotWithShape="0">
                  <a:srgbClr val="000000">
                    <a:alpha val="1372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2800" b="0" i="0" u="none" strike="noStrike" cap="none" dirty="0">
                  <a:solidFill>
                    <a:schemeClr val="lt1"/>
                  </a:solidFill>
                  <a:latin typeface="Arial"/>
                  <a:ea typeface="Arial"/>
                  <a:cs typeface="Arial"/>
                  <a:sym typeface="Arial"/>
                </a:endParaRPr>
              </a:p>
            </p:txBody>
          </p:sp>
        </p:grpSp>
      </p:grpSp>
      <p:grpSp>
        <p:nvGrpSpPr>
          <p:cNvPr id="114" name="Google Shape;114;p2"/>
          <p:cNvGrpSpPr/>
          <p:nvPr/>
        </p:nvGrpSpPr>
        <p:grpSpPr>
          <a:xfrm>
            <a:off x="3287073" y="4082877"/>
            <a:ext cx="6504673" cy="675771"/>
            <a:chOff x="4555085" y="4807551"/>
            <a:chExt cx="4697323" cy="974449"/>
          </a:xfrm>
        </p:grpSpPr>
        <p:pic>
          <p:nvPicPr>
            <p:cNvPr id="115" name="Google Shape;115;p2"/>
            <p:cNvPicPr preferRelativeResize="0"/>
            <p:nvPr/>
          </p:nvPicPr>
          <p:blipFill rotWithShape="1">
            <a:blip r:embed="rId3">
              <a:alphaModFix/>
            </a:blip>
            <a:srcRect t="76775"/>
            <a:stretch/>
          </p:blipFill>
          <p:spPr>
            <a:xfrm>
              <a:off x="4873327" y="5580404"/>
              <a:ext cx="3646270" cy="201307"/>
            </a:xfrm>
            <a:prstGeom prst="rect">
              <a:avLst/>
            </a:prstGeom>
            <a:noFill/>
            <a:ln>
              <a:noFill/>
            </a:ln>
          </p:spPr>
        </p:pic>
        <p:grpSp>
          <p:nvGrpSpPr>
            <p:cNvPr id="116" name="Google Shape;116;p2"/>
            <p:cNvGrpSpPr/>
            <p:nvPr/>
          </p:nvGrpSpPr>
          <p:grpSpPr>
            <a:xfrm>
              <a:off x="4555085" y="4807551"/>
              <a:ext cx="4697323" cy="974449"/>
              <a:chOff x="4555085" y="4807551"/>
              <a:chExt cx="4697323" cy="974449"/>
            </a:xfrm>
          </p:grpSpPr>
          <p:pic>
            <p:nvPicPr>
              <p:cNvPr id="117" name="Google Shape;117;p2"/>
              <p:cNvPicPr preferRelativeResize="0"/>
              <p:nvPr/>
            </p:nvPicPr>
            <p:blipFill rotWithShape="1">
              <a:blip r:embed="rId3">
                <a:alphaModFix/>
              </a:blip>
              <a:srcRect t="76775"/>
              <a:stretch/>
            </p:blipFill>
            <p:spPr>
              <a:xfrm rot="-5400000">
                <a:off x="8600150" y="5129743"/>
                <a:ext cx="958122" cy="346393"/>
              </a:xfrm>
              <a:prstGeom prst="rect">
                <a:avLst/>
              </a:prstGeom>
              <a:noFill/>
              <a:ln>
                <a:noFill/>
              </a:ln>
            </p:spPr>
          </p:pic>
          <p:sp>
            <p:nvSpPr>
              <p:cNvPr id="118" name="Google Shape;118;p2"/>
              <p:cNvSpPr/>
              <p:nvPr/>
            </p:nvSpPr>
            <p:spPr>
              <a:xfrm>
                <a:off x="4555085" y="4807551"/>
                <a:ext cx="4389024" cy="958122"/>
              </a:xfrm>
              <a:prstGeom prst="roundRect">
                <a:avLst>
                  <a:gd name="adj" fmla="val 9218"/>
                </a:avLst>
              </a:prstGeom>
              <a:gradFill>
                <a:gsLst>
                  <a:gs pos="0">
                    <a:srgbClr val="FDFDFD"/>
                  </a:gs>
                  <a:gs pos="47000">
                    <a:srgbClr val="FDFDFD"/>
                  </a:gs>
                  <a:gs pos="52999">
                    <a:srgbClr val="E8E8E8"/>
                  </a:gs>
                  <a:gs pos="100000">
                    <a:srgbClr val="ECECEC"/>
                  </a:gs>
                </a:gsLst>
                <a:lin ang="5400000" scaled="0"/>
              </a:gradFill>
              <a:ln>
                <a:noFill/>
              </a:ln>
              <a:effectLst>
                <a:outerShdw blurRad="76200" dist="38100" dir="2700000" algn="tl" rotWithShape="0">
                  <a:srgbClr val="000000">
                    <a:alpha val="1372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2800" b="0" i="0" u="none" strike="noStrike" cap="none" dirty="0">
                  <a:solidFill>
                    <a:schemeClr val="lt1"/>
                  </a:solidFill>
                  <a:latin typeface="Arial"/>
                  <a:ea typeface="Arial"/>
                  <a:cs typeface="Arial"/>
                  <a:sym typeface="Arial"/>
                </a:endParaRPr>
              </a:p>
            </p:txBody>
          </p:sp>
        </p:grpSp>
      </p:grpSp>
      <p:grpSp>
        <p:nvGrpSpPr>
          <p:cNvPr id="119" name="Google Shape;119;p2"/>
          <p:cNvGrpSpPr/>
          <p:nvPr/>
        </p:nvGrpSpPr>
        <p:grpSpPr>
          <a:xfrm>
            <a:off x="2784174" y="1598401"/>
            <a:ext cx="778013" cy="3199307"/>
            <a:chOff x="3971019" y="796001"/>
            <a:chExt cx="989404" cy="5338506"/>
          </a:xfrm>
        </p:grpSpPr>
        <p:sp>
          <p:nvSpPr>
            <p:cNvPr id="120" name="Google Shape;120;p2"/>
            <p:cNvSpPr/>
            <p:nvPr/>
          </p:nvSpPr>
          <p:spPr>
            <a:xfrm>
              <a:off x="4614031" y="796001"/>
              <a:ext cx="346392" cy="5287413"/>
            </a:xfrm>
            <a:prstGeom prst="rect">
              <a:avLst/>
            </a:prstGeom>
            <a:gradFill>
              <a:gsLst>
                <a:gs pos="0">
                  <a:srgbClr val="000000">
                    <a:alpha val="7843"/>
                  </a:srgbClr>
                </a:gs>
                <a:gs pos="100000">
                  <a:srgbClr val="F2F2F2">
                    <a:alpha val="0"/>
                  </a:srgbClr>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800" b="0" i="0" u="none" strike="noStrike" cap="none" dirty="0">
                <a:solidFill>
                  <a:schemeClr val="lt1"/>
                </a:solidFill>
                <a:latin typeface="Arial"/>
                <a:ea typeface="Arial"/>
                <a:cs typeface="Arial"/>
                <a:sym typeface="Arial"/>
              </a:endParaRPr>
            </a:p>
          </p:txBody>
        </p:sp>
        <p:sp>
          <p:nvSpPr>
            <p:cNvPr id="121" name="Google Shape;121;p2"/>
            <p:cNvSpPr/>
            <p:nvPr/>
          </p:nvSpPr>
          <p:spPr>
            <a:xfrm>
              <a:off x="4178614" y="796001"/>
              <a:ext cx="452661" cy="5287413"/>
            </a:xfrm>
            <a:prstGeom prst="rect">
              <a:avLst/>
            </a:prstGeom>
            <a:solidFill>
              <a:srgbClr val="F2F2F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800" b="0" i="0" u="none" strike="noStrike" cap="none">
                <a:solidFill>
                  <a:schemeClr val="lt1"/>
                </a:solidFill>
                <a:latin typeface="Arial"/>
                <a:ea typeface="Arial"/>
                <a:cs typeface="Arial"/>
                <a:sym typeface="Arial"/>
              </a:endParaRPr>
            </a:p>
          </p:txBody>
        </p:sp>
        <p:pic>
          <p:nvPicPr>
            <p:cNvPr id="122" name="Google Shape;122;p2"/>
            <p:cNvPicPr preferRelativeResize="0"/>
            <p:nvPr/>
          </p:nvPicPr>
          <p:blipFill rotWithShape="1">
            <a:blip r:embed="rId3">
              <a:alphaModFix/>
            </a:blip>
            <a:srcRect t="76775"/>
            <a:stretch/>
          </p:blipFill>
          <p:spPr>
            <a:xfrm rot="5400000">
              <a:off x="1404452" y="3362569"/>
              <a:ext cx="5338505" cy="205371"/>
            </a:xfrm>
            <a:prstGeom prst="rect">
              <a:avLst/>
            </a:prstGeom>
            <a:noFill/>
            <a:ln>
              <a:noFill/>
            </a:ln>
          </p:spPr>
        </p:pic>
        <p:sp>
          <p:nvSpPr>
            <p:cNvPr id="123" name="Google Shape;123;p2"/>
            <p:cNvSpPr/>
            <p:nvPr/>
          </p:nvSpPr>
          <p:spPr>
            <a:xfrm rot="10800000">
              <a:off x="4614203" y="796001"/>
              <a:ext cx="345594" cy="920797"/>
            </a:xfrm>
            <a:custGeom>
              <a:avLst/>
              <a:gdLst/>
              <a:ahLst/>
              <a:cxnLst/>
              <a:rect l="l" t="t" r="r" b="b"/>
              <a:pathLst>
                <a:path w="10092" h="10000" extrusionOk="0">
                  <a:moveTo>
                    <a:pt x="0" y="8736"/>
                  </a:moveTo>
                  <a:lnTo>
                    <a:pt x="10092" y="0"/>
                  </a:lnTo>
                  <a:lnTo>
                    <a:pt x="10092" y="10000"/>
                  </a:lnTo>
                  <a:lnTo>
                    <a:pt x="92" y="10000"/>
                  </a:lnTo>
                  <a:cubicBezTo>
                    <a:pt x="30" y="8875"/>
                    <a:pt x="62" y="9861"/>
                    <a:pt x="0" y="8736"/>
                  </a:cubicBezTo>
                  <a:close/>
                </a:path>
              </a:pathLst>
            </a:custGeom>
            <a:gradFill>
              <a:gsLst>
                <a:gs pos="0">
                  <a:srgbClr val="000000">
                    <a:alpha val="20784"/>
                  </a:srgbClr>
                </a:gs>
                <a:gs pos="100000">
                  <a:srgbClr val="F2F2F2">
                    <a:alpha val="0"/>
                  </a:srgbClr>
                </a:gs>
              </a:gsLst>
              <a:lin ang="10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800" b="0" i="0" u="none" strike="noStrike" cap="none">
                <a:solidFill>
                  <a:schemeClr val="lt1"/>
                </a:solidFill>
                <a:latin typeface="Arial"/>
                <a:ea typeface="Arial"/>
                <a:cs typeface="Arial"/>
                <a:sym typeface="Arial"/>
              </a:endParaRPr>
            </a:p>
          </p:txBody>
        </p:sp>
        <p:sp>
          <p:nvSpPr>
            <p:cNvPr id="124" name="Google Shape;124;p2"/>
            <p:cNvSpPr/>
            <p:nvPr/>
          </p:nvSpPr>
          <p:spPr>
            <a:xfrm rot="5400000">
              <a:off x="4085362" y="2026910"/>
              <a:ext cx="1396262" cy="345868"/>
            </a:xfrm>
            <a:prstGeom prst="trapezoid">
              <a:avLst>
                <a:gd name="adj" fmla="val 173951"/>
              </a:avLst>
            </a:prstGeom>
            <a:gradFill>
              <a:gsLst>
                <a:gs pos="0">
                  <a:srgbClr val="F2F2F2">
                    <a:alpha val="0"/>
                  </a:srgbClr>
                </a:gs>
                <a:gs pos="100000">
                  <a:srgbClr val="000000">
                    <a:alpha val="20784"/>
                  </a:srgbClr>
                </a:gs>
              </a:gsLst>
              <a:lin ang="5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800" b="0" i="0" u="none" strike="noStrike" cap="none">
                <a:solidFill>
                  <a:schemeClr val="lt1"/>
                </a:solidFill>
                <a:latin typeface="Arial"/>
                <a:ea typeface="Arial"/>
                <a:cs typeface="Arial"/>
                <a:sym typeface="Arial"/>
              </a:endParaRPr>
            </a:p>
          </p:txBody>
        </p:sp>
        <p:sp>
          <p:nvSpPr>
            <p:cNvPr id="125" name="Google Shape;125;p2"/>
            <p:cNvSpPr/>
            <p:nvPr/>
          </p:nvSpPr>
          <p:spPr>
            <a:xfrm rot="5400000">
              <a:off x="4085362" y="3275907"/>
              <a:ext cx="1396262" cy="345868"/>
            </a:xfrm>
            <a:prstGeom prst="trapezoid">
              <a:avLst>
                <a:gd name="adj" fmla="val 173951"/>
              </a:avLst>
            </a:prstGeom>
            <a:gradFill>
              <a:gsLst>
                <a:gs pos="0">
                  <a:srgbClr val="F2F2F2">
                    <a:alpha val="0"/>
                  </a:srgbClr>
                </a:gs>
                <a:gs pos="100000">
                  <a:srgbClr val="000000">
                    <a:alpha val="20784"/>
                  </a:srgbClr>
                </a:gs>
              </a:gsLst>
              <a:lin ang="5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800" b="0" i="0" u="none" strike="noStrike" cap="none">
                <a:solidFill>
                  <a:schemeClr val="lt1"/>
                </a:solidFill>
                <a:latin typeface="Arial"/>
                <a:ea typeface="Arial"/>
                <a:cs typeface="Arial"/>
                <a:sym typeface="Arial"/>
              </a:endParaRPr>
            </a:p>
          </p:txBody>
        </p:sp>
        <p:sp>
          <p:nvSpPr>
            <p:cNvPr id="126" name="Google Shape;126;p2"/>
            <p:cNvSpPr/>
            <p:nvPr/>
          </p:nvSpPr>
          <p:spPr>
            <a:xfrm rot="5400000">
              <a:off x="4085362" y="4502881"/>
              <a:ext cx="1396262" cy="345868"/>
            </a:xfrm>
            <a:prstGeom prst="trapezoid">
              <a:avLst>
                <a:gd name="adj" fmla="val 173951"/>
              </a:avLst>
            </a:prstGeom>
            <a:gradFill>
              <a:gsLst>
                <a:gs pos="0">
                  <a:srgbClr val="F2F2F2">
                    <a:alpha val="0"/>
                  </a:srgbClr>
                </a:gs>
                <a:gs pos="100000">
                  <a:srgbClr val="000000">
                    <a:alpha val="20784"/>
                  </a:srgbClr>
                </a:gs>
              </a:gsLst>
              <a:lin ang="5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800" b="0" i="0" u="none" strike="noStrike" cap="none">
                <a:solidFill>
                  <a:schemeClr val="lt1"/>
                </a:solidFill>
                <a:latin typeface="Arial"/>
                <a:ea typeface="Arial"/>
                <a:cs typeface="Arial"/>
                <a:sym typeface="Arial"/>
              </a:endParaRPr>
            </a:p>
          </p:txBody>
        </p:sp>
        <p:sp>
          <p:nvSpPr>
            <p:cNvPr id="127" name="Google Shape;127;p2"/>
            <p:cNvSpPr/>
            <p:nvPr/>
          </p:nvSpPr>
          <p:spPr>
            <a:xfrm flipH="1">
              <a:off x="4614203" y="5187950"/>
              <a:ext cx="345594" cy="895464"/>
            </a:xfrm>
            <a:custGeom>
              <a:avLst/>
              <a:gdLst/>
              <a:ahLst/>
              <a:cxnLst/>
              <a:rect l="l" t="t" r="r" b="b"/>
              <a:pathLst>
                <a:path w="10092" h="10000" extrusionOk="0">
                  <a:moveTo>
                    <a:pt x="0" y="8736"/>
                  </a:moveTo>
                  <a:lnTo>
                    <a:pt x="10092" y="0"/>
                  </a:lnTo>
                  <a:lnTo>
                    <a:pt x="10092" y="10000"/>
                  </a:lnTo>
                  <a:lnTo>
                    <a:pt x="92" y="10000"/>
                  </a:lnTo>
                  <a:cubicBezTo>
                    <a:pt x="30" y="8875"/>
                    <a:pt x="62" y="9861"/>
                    <a:pt x="0" y="8736"/>
                  </a:cubicBezTo>
                  <a:close/>
                </a:path>
              </a:pathLst>
            </a:custGeom>
            <a:gradFill>
              <a:gsLst>
                <a:gs pos="0">
                  <a:srgbClr val="000000">
                    <a:alpha val="20784"/>
                  </a:srgbClr>
                </a:gs>
                <a:gs pos="100000">
                  <a:srgbClr val="F2F2F2">
                    <a:alpha val="0"/>
                  </a:srgbClr>
                </a:gs>
              </a:gsLst>
              <a:lin ang="10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800" b="0" i="0" u="none" strike="noStrike" cap="none">
                <a:solidFill>
                  <a:schemeClr val="lt1"/>
                </a:solidFill>
                <a:latin typeface="Arial"/>
                <a:ea typeface="Arial"/>
                <a:cs typeface="Arial"/>
                <a:sym typeface="Arial"/>
              </a:endParaRPr>
            </a:p>
          </p:txBody>
        </p:sp>
      </p:grpSp>
      <p:sp>
        <p:nvSpPr>
          <p:cNvPr id="128" name="Google Shape;128;p2"/>
          <p:cNvSpPr txBox="1"/>
          <p:nvPr/>
        </p:nvSpPr>
        <p:spPr>
          <a:xfrm>
            <a:off x="3315326" y="1672543"/>
            <a:ext cx="5303743"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dirty="0">
                <a:solidFill>
                  <a:srgbClr val="FFC000"/>
                </a:solidFill>
                <a:latin typeface="Times New Roman"/>
                <a:ea typeface="Times New Roman"/>
                <a:cs typeface="Times New Roman"/>
                <a:sym typeface="Times New Roman"/>
              </a:rPr>
              <a:t>Spring validators</a:t>
            </a:r>
            <a:endParaRPr sz="2800" b="1" dirty="0">
              <a:solidFill>
                <a:srgbClr val="FFC000"/>
              </a:solidFill>
              <a:latin typeface="Times New Roman"/>
              <a:ea typeface="Times New Roman"/>
              <a:cs typeface="Times New Roman"/>
              <a:sym typeface="Times New Roman"/>
            </a:endParaRPr>
          </a:p>
        </p:txBody>
      </p:sp>
      <p:sp>
        <p:nvSpPr>
          <p:cNvPr id="131" name="Google Shape;131;p2"/>
          <p:cNvSpPr/>
          <p:nvPr/>
        </p:nvSpPr>
        <p:spPr>
          <a:xfrm>
            <a:off x="3287721" y="4151054"/>
            <a:ext cx="4595959"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dirty="0">
                <a:solidFill>
                  <a:srgbClr val="663A77"/>
                </a:solidFill>
                <a:latin typeface="Times New Roman"/>
                <a:ea typeface="Times New Roman"/>
                <a:cs typeface="Times New Roman"/>
                <a:sym typeface="Times New Roman"/>
              </a:rPr>
              <a:t> </a:t>
            </a:r>
            <a:endParaRPr sz="2800" b="1" dirty="0">
              <a:solidFill>
                <a:srgbClr val="663A77"/>
              </a:solidFill>
              <a:latin typeface="Times New Roman"/>
              <a:ea typeface="Times New Roman"/>
              <a:cs typeface="Times New Roman"/>
              <a:sym typeface="Times New Roman"/>
            </a:endParaRPr>
          </a:p>
        </p:txBody>
      </p:sp>
      <p:grpSp>
        <p:nvGrpSpPr>
          <p:cNvPr id="132" name="Google Shape;132;p2"/>
          <p:cNvGrpSpPr/>
          <p:nvPr/>
        </p:nvGrpSpPr>
        <p:grpSpPr>
          <a:xfrm>
            <a:off x="2115695" y="4074674"/>
            <a:ext cx="788184" cy="723034"/>
            <a:chOff x="2957626" y="3769915"/>
            <a:chExt cx="1113652" cy="964046"/>
          </a:xfrm>
        </p:grpSpPr>
        <p:grpSp>
          <p:nvGrpSpPr>
            <p:cNvPr id="133" name="Google Shape;133;p2"/>
            <p:cNvGrpSpPr/>
            <p:nvPr/>
          </p:nvGrpSpPr>
          <p:grpSpPr>
            <a:xfrm>
              <a:off x="2957626" y="3769915"/>
              <a:ext cx="1113652" cy="964046"/>
              <a:chOff x="2587963" y="111843"/>
              <a:chExt cx="1113652" cy="964046"/>
            </a:xfrm>
          </p:grpSpPr>
          <p:sp>
            <p:nvSpPr>
              <p:cNvPr id="134" name="Google Shape;134;p2"/>
              <p:cNvSpPr/>
              <p:nvPr/>
            </p:nvSpPr>
            <p:spPr>
              <a:xfrm>
                <a:off x="2587963" y="117766"/>
                <a:ext cx="1076325" cy="958123"/>
              </a:xfrm>
              <a:prstGeom prst="roundRect">
                <a:avLst>
                  <a:gd name="adj" fmla="val 13889"/>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800">
                  <a:solidFill>
                    <a:schemeClr val="lt1"/>
                  </a:solidFill>
                  <a:latin typeface="Arial"/>
                  <a:ea typeface="Arial"/>
                  <a:cs typeface="Arial"/>
                  <a:sym typeface="Arial"/>
                </a:endParaRPr>
              </a:p>
            </p:txBody>
          </p:sp>
          <p:sp>
            <p:nvSpPr>
              <p:cNvPr id="135" name="Google Shape;135;p2"/>
              <p:cNvSpPr/>
              <p:nvPr/>
            </p:nvSpPr>
            <p:spPr>
              <a:xfrm>
                <a:off x="2638400" y="111843"/>
                <a:ext cx="1063215" cy="901028"/>
              </a:xfrm>
              <a:prstGeom prst="roundRect">
                <a:avLst>
                  <a:gd name="adj" fmla="val 13889"/>
                </a:avLst>
              </a:prstGeom>
              <a:solidFill>
                <a:srgbClr val="663A7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800">
                  <a:solidFill>
                    <a:schemeClr val="lt1"/>
                  </a:solidFill>
                  <a:latin typeface="Arial"/>
                  <a:ea typeface="Arial"/>
                  <a:cs typeface="Arial"/>
                  <a:sym typeface="Arial"/>
                </a:endParaRPr>
              </a:p>
            </p:txBody>
          </p:sp>
        </p:grpSp>
        <p:sp>
          <p:nvSpPr>
            <p:cNvPr id="136" name="Google Shape;136;p2"/>
            <p:cNvSpPr txBox="1"/>
            <p:nvPr/>
          </p:nvSpPr>
          <p:spPr>
            <a:xfrm>
              <a:off x="3008886" y="3882010"/>
              <a:ext cx="1030514" cy="69762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a:solidFill>
                    <a:schemeClr val="lt1"/>
                  </a:solidFill>
                  <a:latin typeface="Impact"/>
                  <a:ea typeface="Impact"/>
                  <a:cs typeface="Impact"/>
                  <a:sym typeface="Impact"/>
                </a:rPr>
                <a:t>04</a:t>
              </a:r>
              <a:endParaRPr sz="2800">
                <a:solidFill>
                  <a:schemeClr val="lt1"/>
                </a:solidFill>
                <a:latin typeface="Impact"/>
                <a:ea typeface="Impact"/>
                <a:cs typeface="Impact"/>
                <a:sym typeface="Impact"/>
              </a:endParaRPr>
            </a:p>
          </p:txBody>
        </p:sp>
      </p:grpSp>
      <p:sp>
        <p:nvSpPr>
          <p:cNvPr id="3" name="Google Shape;128;p2">
            <a:extLst>
              <a:ext uri="{FF2B5EF4-FFF2-40B4-BE49-F238E27FC236}">
                <a16:creationId xmlns:a16="http://schemas.microsoft.com/office/drawing/2014/main" id="{98E822F1-11B2-89E6-E632-AA3BCD6D85F4}"/>
              </a:ext>
            </a:extLst>
          </p:cNvPr>
          <p:cNvSpPr txBox="1"/>
          <p:nvPr/>
        </p:nvSpPr>
        <p:spPr>
          <a:xfrm>
            <a:off x="3303363" y="2431438"/>
            <a:ext cx="5303743"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dirty="0">
                <a:solidFill>
                  <a:srgbClr val="FFC000"/>
                </a:solidFill>
                <a:latin typeface="Times New Roman"/>
                <a:ea typeface="Times New Roman"/>
                <a:cs typeface="Times New Roman"/>
                <a:sym typeface="Times New Roman"/>
              </a:rPr>
              <a:t>Monolith </a:t>
            </a:r>
            <a:r>
              <a:rPr lang="en-US" sz="2800" b="1" dirty="0" err="1">
                <a:solidFill>
                  <a:srgbClr val="FFC000"/>
                </a:solidFill>
                <a:latin typeface="Times New Roman"/>
                <a:ea typeface="Times New Roman"/>
                <a:cs typeface="Times New Roman"/>
                <a:sym typeface="Times New Roman"/>
              </a:rPr>
              <a:t>và</a:t>
            </a:r>
            <a:r>
              <a:rPr lang="en-US" sz="2800" b="1" dirty="0">
                <a:solidFill>
                  <a:srgbClr val="FFC000"/>
                </a:solidFill>
                <a:latin typeface="Times New Roman"/>
                <a:ea typeface="Times New Roman"/>
                <a:cs typeface="Times New Roman"/>
                <a:sym typeface="Times New Roman"/>
              </a:rPr>
              <a:t> Microservice</a:t>
            </a:r>
            <a:endParaRPr sz="2800" b="1" dirty="0">
              <a:solidFill>
                <a:srgbClr val="FFC000"/>
              </a:solidFill>
              <a:latin typeface="Times New Roman"/>
              <a:ea typeface="Times New Roman"/>
              <a:cs typeface="Times New Roman"/>
              <a:sym typeface="Times New Roman"/>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withEffect">
                                  <p:stCondLst>
                                    <p:cond delay="0"/>
                                  </p:stCondLst>
                                  <p:childTnLst>
                                    <p:set>
                                      <p:cBhvr>
                                        <p:cTn id="6" dur="1" fill="hold">
                                          <p:stCondLst>
                                            <p:cond delay="0"/>
                                          </p:stCondLst>
                                        </p:cTn>
                                        <p:tgtEl>
                                          <p:spTgt spid="75"/>
                                        </p:tgtEl>
                                        <p:attrNameLst>
                                          <p:attrName>style.visibility</p:attrName>
                                        </p:attrNameLst>
                                      </p:cBhvr>
                                      <p:to>
                                        <p:strVal val="visible"/>
                                      </p:to>
                                    </p:set>
                                    <p:anim calcmode="lin" valueType="num">
                                      <p:cBhvr additive="base">
                                        <p:cTn id="7" dur="100"/>
                                        <p:tgtEl>
                                          <p:spTgt spid="75"/>
                                        </p:tgtEl>
                                        <p:attrNameLst>
                                          <p:attrName>ppt_w</p:attrName>
                                        </p:attrNameLst>
                                      </p:cBhvr>
                                      <p:tavLst>
                                        <p:tav tm="0">
                                          <p:val>
                                            <p:strVal val="0"/>
                                          </p:val>
                                        </p:tav>
                                        <p:tav tm="100000">
                                          <p:val>
                                            <p:strVal val="#ppt_w"/>
                                          </p:val>
                                        </p:tav>
                                      </p:tavLst>
                                    </p:anim>
                                    <p:anim calcmode="lin" valueType="num">
                                      <p:cBhvr additive="base">
                                        <p:cTn id="8" dur="100"/>
                                        <p:tgtEl>
                                          <p:spTgt spid="75"/>
                                        </p:tgtEl>
                                        <p:attrNameLst>
                                          <p:attrName>ppt_h</p:attrName>
                                        </p:attrNameLst>
                                      </p:cBhvr>
                                      <p:tavLst>
                                        <p:tav tm="0">
                                          <p:val>
                                            <p:strVal val="0"/>
                                          </p:val>
                                        </p:tav>
                                        <p:tav tm="100000">
                                          <p:val>
                                            <p:strVal val="#ppt_h"/>
                                          </p:val>
                                        </p:tav>
                                      </p:tavLst>
                                    </p:anim>
                                  </p:childTnLst>
                                </p:cTn>
                              </p:par>
                            </p:childTnLst>
                          </p:cTn>
                        </p:par>
                        <p:par>
                          <p:cTn id="9" fill="hold">
                            <p:stCondLst>
                              <p:cond delay="100"/>
                            </p:stCondLst>
                            <p:childTnLst>
                              <p:par>
                                <p:cTn id="10" presetID="10" presetClass="entr" presetSubtype="0" fill="hold" nodeType="afterEffect">
                                  <p:stCondLst>
                                    <p:cond delay="0"/>
                                  </p:stCondLst>
                                  <p:childTnLst>
                                    <p:set>
                                      <p:cBhvr>
                                        <p:cTn id="11" dur="1" fill="hold">
                                          <p:stCondLst>
                                            <p:cond delay="0"/>
                                          </p:stCondLst>
                                        </p:cTn>
                                        <p:tgtEl>
                                          <p:spTgt spid="119"/>
                                        </p:tgtEl>
                                        <p:attrNameLst>
                                          <p:attrName>style.visibility</p:attrName>
                                        </p:attrNameLst>
                                      </p:cBhvr>
                                      <p:to>
                                        <p:strVal val="visible"/>
                                      </p:to>
                                    </p:set>
                                    <p:animEffect transition="in" filter="fade">
                                      <p:cBhvr>
                                        <p:cTn id="12" dur="500"/>
                                        <p:tgtEl>
                                          <p:spTgt spid="119"/>
                                        </p:tgtEl>
                                      </p:cBhvr>
                                    </p:animEffect>
                                  </p:childTnLst>
                                </p:cTn>
                              </p:par>
                            </p:childTnLst>
                          </p:cTn>
                        </p:par>
                        <p:par>
                          <p:cTn id="13" fill="hold">
                            <p:stCondLst>
                              <p:cond delay="600"/>
                            </p:stCondLst>
                            <p:childTnLst>
                              <p:par>
                                <p:cTn id="14" presetID="10" presetClass="entr" presetSubtype="0" fill="hold" nodeType="afterEffect">
                                  <p:stCondLst>
                                    <p:cond delay="0"/>
                                  </p:stCondLst>
                                  <p:childTnLst>
                                    <p:set>
                                      <p:cBhvr>
                                        <p:cTn id="15" dur="1" fill="hold">
                                          <p:stCondLst>
                                            <p:cond delay="0"/>
                                          </p:stCondLst>
                                        </p:cTn>
                                        <p:tgtEl>
                                          <p:spTgt spid="79"/>
                                        </p:tgtEl>
                                        <p:attrNameLst>
                                          <p:attrName>style.visibility</p:attrName>
                                        </p:attrNameLst>
                                      </p:cBhvr>
                                      <p:to>
                                        <p:strVal val="visible"/>
                                      </p:to>
                                    </p:set>
                                    <p:animEffect transition="in" filter="fade">
                                      <p:cBhvr>
                                        <p:cTn id="16" dur="500"/>
                                        <p:tgtEl>
                                          <p:spTgt spid="79"/>
                                        </p:tgtEl>
                                      </p:cBhvr>
                                    </p:animEffect>
                                  </p:childTnLst>
                                </p:cTn>
                              </p:par>
                              <p:par>
                                <p:cTn id="17" presetID="10" presetClass="entr" presetSubtype="0" fill="hold" nodeType="withEffect">
                                  <p:stCondLst>
                                    <p:cond delay="0"/>
                                  </p:stCondLst>
                                  <p:childTnLst>
                                    <p:set>
                                      <p:cBhvr>
                                        <p:cTn id="18" dur="1" fill="hold">
                                          <p:stCondLst>
                                            <p:cond delay="0"/>
                                          </p:stCondLst>
                                        </p:cTn>
                                        <p:tgtEl>
                                          <p:spTgt spid="99"/>
                                        </p:tgtEl>
                                        <p:attrNameLst>
                                          <p:attrName>style.visibility</p:attrName>
                                        </p:attrNameLst>
                                      </p:cBhvr>
                                      <p:to>
                                        <p:strVal val="visible"/>
                                      </p:to>
                                    </p:set>
                                    <p:animEffect transition="in" filter="fade">
                                      <p:cBhvr>
                                        <p:cTn id="19" dur="500"/>
                                        <p:tgtEl>
                                          <p:spTgt spid="99"/>
                                        </p:tgtEl>
                                      </p:cBhvr>
                                    </p:animEffect>
                                  </p:childTnLst>
                                </p:cTn>
                              </p:par>
                            </p:childTnLst>
                          </p:cTn>
                        </p:par>
                        <p:par>
                          <p:cTn id="20" fill="hold">
                            <p:stCondLst>
                              <p:cond delay="1100"/>
                            </p:stCondLst>
                            <p:childTnLst>
                              <p:par>
                                <p:cTn id="21" presetID="10" presetClass="entr" presetSubtype="0" fill="hold" nodeType="afterEffect">
                                  <p:stCondLst>
                                    <p:cond delay="0"/>
                                  </p:stCondLst>
                                  <p:childTnLst>
                                    <p:set>
                                      <p:cBhvr>
                                        <p:cTn id="22" dur="1" fill="hold">
                                          <p:stCondLst>
                                            <p:cond delay="0"/>
                                          </p:stCondLst>
                                        </p:cTn>
                                        <p:tgtEl>
                                          <p:spTgt spid="84"/>
                                        </p:tgtEl>
                                        <p:attrNameLst>
                                          <p:attrName>style.visibility</p:attrName>
                                        </p:attrNameLst>
                                      </p:cBhvr>
                                      <p:to>
                                        <p:strVal val="visible"/>
                                      </p:to>
                                    </p:set>
                                    <p:animEffect transition="in" filter="fade">
                                      <p:cBhvr>
                                        <p:cTn id="23" dur="500"/>
                                        <p:tgtEl>
                                          <p:spTgt spid="84"/>
                                        </p:tgtEl>
                                      </p:cBhvr>
                                    </p:animEffect>
                                  </p:childTnLst>
                                </p:cTn>
                              </p:par>
                              <p:par>
                                <p:cTn id="24" presetID="10" presetClass="entr" presetSubtype="0" fill="hold" nodeType="withEffect">
                                  <p:stCondLst>
                                    <p:cond delay="0"/>
                                  </p:stCondLst>
                                  <p:childTnLst>
                                    <p:set>
                                      <p:cBhvr>
                                        <p:cTn id="25" dur="1" fill="hold">
                                          <p:stCondLst>
                                            <p:cond delay="0"/>
                                          </p:stCondLst>
                                        </p:cTn>
                                        <p:tgtEl>
                                          <p:spTgt spid="104"/>
                                        </p:tgtEl>
                                        <p:attrNameLst>
                                          <p:attrName>style.visibility</p:attrName>
                                        </p:attrNameLst>
                                      </p:cBhvr>
                                      <p:to>
                                        <p:strVal val="visible"/>
                                      </p:to>
                                    </p:set>
                                    <p:animEffect transition="in" filter="fade">
                                      <p:cBhvr>
                                        <p:cTn id="26" dur="500"/>
                                        <p:tgtEl>
                                          <p:spTgt spid="104"/>
                                        </p:tgtEl>
                                      </p:cBhvr>
                                    </p:animEffect>
                                  </p:childTnLst>
                                </p:cTn>
                              </p:par>
                            </p:childTnLst>
                          </p:cTn>
                        </p:par>
                        <p:par>
                          <p:cTn id="27" fill="hold">
                            <p:stCondLst>
                              <p:cond delay="1600"/>
                            </p:stCondLst>
                            <p:childTnLst>
                              <p:par>
                                <p:cTn id="28" presetID="10" presetClass="entr" presetSubtype="0" fill="hold" nodeType="afterEffect">
                                  <p:stCondLst>
                                    <p:cond delay="0"/>
                                  </p:stCondLst>
                                  <p:childTnLst>
                                    <p:set>
                                      <p:cBhvr>
                                        <p:cTn id="29" dur="1" fill="hold">
                                          <p:stCondLst>
                                            <p:cond delay="0"/>
                                          </p:stCondLst>
                                        </p:cTn>
                                        <p:tgtEl>
                                          <p:spTgt spid="89"/>
                                        </p:tgtEl>
                                        <p:attrNameLst>
                                          <p:attrName>style.visibility</p:attrName>
                                        </p:attrNameLst>
                                      </p:cBhvr>
                                      <p:to>
                                        <p:strVal val="visible"/>
                                      </p:to>
                                    </p:set>
                                    <p:animEffect transition="in" filter="fade">
                                      <p:cBhvr>
                                        <p:cTn id="30" dur="500"/>
                                        <p:tgtEl>
                                          <p:spTgt spid="89"/>
                                        </p:tgtEl>
                                      </p:cBhvr>
                                    </p:animEffect>
                                  </p:childTnLst>
                                </p:cTn>
                              </p:par>
                              <p:par>
                                <p:cTn id="31" presetID="10" presetClass="entr" presetSubtype="0" fill="hold" nodeType="withEffect">
                                  <p:stCondLst>
                                    <p:cond delay="0"/>
                                  </p:stCondLst>
                                  <p:childTnLst>
                                    <p:set>
                                      <p:cBhvr>
                                        <p:cTn id="32" dur="1" fill="hold">
                                          <p:stCondLst>
                                            <p:cond delay="0"/>
                                          </p:stCondLst>
                                        </p:cTn>
                                        <p:tgtEl>
                                          <p:spTgt spid="109"/>
                                        </p:tgtEl>
                                        <p:attrNameLst>
                                          <p:attrName>style.visibility</p:attrName>
                                        </p:attrNameLst>
                                      </p:cBhvr>
                                      <p:to>
                                        <p:strVal val="visible"/>
                                      </p:to>
                                    </p:set>
                                    <p:animEffect transition="in" filter="fade">
                                      <p:cBhvr>
                                        <p:cTn id="33" dur="500"/>
                                        <p:tgtEl>
                                          <p:spTgt spid="109"/>
                                        </p:tgtEl>
                                      </p:cBhvr>
                                    </p:animEffect>
                                  </p:childTnLst>
                                </p:cTn>
                              </p:par>
                              <p:par>
                                <p:cTn id="34" presetID="10" presetClass="entr" presetSubtype="0" fill="hold" nodeType="withEffect">
                                  <p:stCondLst>
                                    <p:cond delay="0"/>
                                  </p:stCondLst>
                                  <p:childTnLst>
                                    <p:set>
                                      <p:cBhvr>
                                        <p:cTn id="35" dur="1" fill="hold">
                                          <p:stCondLst>
                                            <p:cond delay="0"/>
                                          </p:stCondLst>
                                        </p:cTn>
                                        <p:tgtEl>
                                          <p:spTgt spid="114"/>
                                        </p:tgtEl>
                                        <p:attrNameLst>
                                          <p:attrName>style.visibility</p:attrName>
                                        </p:attrNameLst>
                                      </p:cBhvr>
                                      <p:to>
                                        <p:strVal val="visible"/>
                                      </p:to>
                                    </p:set>
                                    <p:animEffect transition="in" filter="fade">
                                      <p:cBhvr>
                                        <p:cTn id="36" dur="500"/>
                                        <p:tgtEl>
                                          <p:spTgt spid="114"/>
                                        </p:tgtEl>
                                      </p:cBhvr>
                                    </p:animEffect>
                                  </p:childTnLst>
                                </p:cTn>
                              </p:par>
                            </p:childTnLst>
                          </p:cTn>
                        </p:par>
                        <p:par>
                          <p:cTn id="37" fill="hold">
                            <p:stCondLst>
                              <p:cond delay="2100"/>
                            </p:stCondLst>
                            <p:childTnLst>
                              <p:par>
                                <p:cTn id="38" presetID="10" presetClass="entr" presetSubtype="0" fill="hold" nodeType="afterEffect">
                                  <p:stCondLst>
                                    <p:cond delay="0"/>
                                  </p:stCondLst>
                                  <p:childTnLst>
                                    <p:set>
                                      <p:cBhvr>
                                        <p:cTn id="39" dur="1" fill="hold">
                                          <p:stCondLst>
                                            <p:cond delay="0"/>
                                          </p:stCondLst>
                                        </p:cTn>
                                        <p:tgtEl>
                                          <p:spTgt spid="132"/>
                                        </p:tgtEl>
                                        <p:attrNameLst>
                                          <p:attrName>style.visibility</p:attrName>
                                        </p:attrNameLst>
                                      </p:cBhvr>
                                      <p:to>
                                        <p:strVal val="visible"/>
                                      </p:to>
                                    </p:set>
                                    <p:animEffect transition="in" filter="fade">
                                      <p:cBhvr>
                                        <p:cTn id="40" dur="500"/>
                                        <p:tgtEl>
                                          <p:spTgt spid="1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grpSp>
        <p:nvGrpSpPr>
          <p:cNvPr id="190" name="Google Shape;190;p5"/>
          <p:cNvGrpSpPr/>
          <p:nvPr/>
        </p:nvGrpSpPr>
        <p:grpSpPr>
          <a:xfrm>
            <a:off x="1670730" y="1263299"/>
            <a:ext cx="8616270" cy="1007332"/>
            <a:chOff x="3129129" y="1121776"/>
            <a:chExt cx="5933741" cy="1171624"/>
          </a:xfrm>
        </p:grpSpPr>
        <p:sp>
          <p:nvSpPr>
            <p:cNvPr id="191" name="Google Shape;191;p5"/>
            <p:cNvSpPr/>
            <p:nvPr/>
          </p:nvSpPr>
          <p:spPr>
            <a:xfrm>
              <a:off x="3129129" y="1121776"/>
              <a:ext cx="5933741" cy="1171624"/>
            </a:xfrm>
            <a:prstGeom prst="roundRect">
              <a:avLst>
                <a:gd name="adj" fmla="val 50000"/>
              </a:avLst>
            </a:prstGeom>
            <a:solidFill>
              <a:srgbClr val="D8D8D8">
                <a:alpha val="49803"/>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rgbClr val="FFAA2D"/>
                </a:solidFill>
                <a:latin typeface="Arial"/>
                <a:ea typeface="Arial"/>
                <a:cs typeface="Arial"/>
                <a:sym typeface="Arial"/>
              </a:endParaRPr>
            </a:p>
          </p:txBody>
        </p:sp>
        <p:sp>
          <p:nvSpPr>
            <p:cNvPr id="192" name="Google Shape;192;p5"/>
            <p:cNvSpPr/>
            <p:nvPr/>
          </p:nvSpPr>
          <p:spPr>
            <a:xfrm>
              <a:off x="3289330" y="1253414"/>
              <a:ext cx="5613340" cy="908350"/>
            </a:xfrm>
            <a:prstGeom prst="roundRect">
              <a:avLst>
                <a:gd name="adj" fmla="val 50000"/>
              </a:avLst>
            </a:prstGeom>
            <a:gradFill>
              <a:gsLst>
                <a:gs pos="0">
                  <a:srgbClr val="FFAA2D"/>
                </a:gs>
                <a:gs pos="100000">
                  <a:srgbClr val="FFD393"/>
                </a:gs>
              </a:gsLst>
              <a:lin ang="0" scaled="0"/>
            </a:gradFill>
            <a:ln w="19050" cap="flat" cmpd="sng">
              <a:solidFill>
                <a:srgbClr val="BFBFB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rgbClr val="FFAA2D"/>
                </a:solidFill>
                <a:latin typeface="Arial"/>
                <a:ea typeface="Arial"/>
                <a:cs typeface="Arial"/>
                <a:sym typeface="Arial"/>
              </a:endParaRPr>
            </a:p>
          </p:txBody>
        </p:sp>
      </p:grpSp>
      <p:grpSp>
        <p:nvGrpSpPr>
          <p:cNvPr id="193" name="Google Shape;193;p5"/>
          <p:cNvGrpSpPr/>
          <p:nvPr/>
        </p:nvGrpSpPr>
        <p:grpSpPr>
          <a:xfrm>
            <a:off x="1782659" y="1240148"/>
            <a:ext cx="1674310" cy="1522886"/>
            <a:chOff x="3020983" y="881796"/>
            <a:chExt cx="2097410" cy="2097410"/>
          </a:xfrm>
        </p:grpSpPr>
        <p:grpSp>
          <p:nvGrpSpPr>
            <p:cNvPr id="194" name="Google Shape;194;p5"/>
            <p:cNvGrpSpPr/>
            <p:nvPr/>
          </p:nvGrpSpPr>
          <p:grpSpPr>
            <a:xfrm>
              <a:off x="3020983" y="881796"/>
              <a:ext cx="2097410" cy="2097410"/>
              <a:chOff x="3099689" y="1098878"/>
              <a:chExt cx="1995612" cy="1995615"/>
            </a:xfrm>
          </p:grpSpPr>
          <p:grpSp>
            <p:nvGrpSpPr>
              <p:cNvPr id="195" name="Google Shape;195;p5"/>
              <p:cNvGrpSpPr/>
              <p:nvPr/>
            </p:nvGrpSpPr>
            <p:grpSpPr>
              <a:xfrm>
                <a:off x="3099689" y="1098878"/>
                <a:ext cx="1995612" cy="1995615"/>
                <a:chOff x="6804316" y="2574806"/>
                <a:chExt cx="3585705" cy="3585705"/>
              </a:xfrm>
            </p:grpSpPr>
            <p:sp>
              <p:nvSpPr>
                <p:cNvPr id="196" name="Google Shape;196;p5"/>
                <p:cNvSpPr/>
                <p:nvPr/>
              </p:nvSpPr>
              <p:spPr>
                <a:xfrm rot="-2700000">
                  <a:off x="7501948" y="2927402"/>
                  <a:ext cx="2190440" cy="2880512"/>
                </a:xfrm>
                <a:custGeom>
                  <a:avLst/>
                  <a:gdLst/>
                  <a:ahLst/>
                  <a:cxnLst/>
                  <a:rect l="l" t="t" r="r" b="b"/>
                  <a:pathLst>
                    <a:path w="1696474" h="2070736" extrusionOk="0">
                      <a:moveTo>
                        <a:pt x="13249" y="1035368"/>
                      </a:moveTo>
                      <a:cubicBezTo>
                        <a:pt x="112309" y="471170"/>
                        <a:pt x="388098" y="0"/>
                        <a:pt x="850497" y="0"/>
                      </a:cubicBezTo>
                      <a:cubicBezTo>
                        <a:pt x="1312896" y="0"/>
                        <a:pt x="1611545" y="478790"/>
                        <a:pt x="1687745" y="1035368"/>
                      </a:cubicBezTo>
                      <a:cubicBezTo>
                        <a:pt x="1765308" y="1601901"/>
                        <a:pt x="1312896" y="2070736"/>
                        <a:pt x="850497" y="2070736"/>
                      </a:cubicBezTo>
                      <a:cubicBezTo>
                        <a:pt x="388098" y="2070736"/>
                        <a:pt x="-85811" y="1599566"/>
                        <a:pt x="13249" y="1035368"/>
                      </a:cubicBezTo>
                      <a:close/>
                    </a:path>
                  </a:pathLst>
                </a:custGeom>
                <a:gradFill>
                  <a:gsLst>
                    <a:gs pos="0">
                      <a:schemeClr val="dk1"/>
                    </a:gs>
                    <a:gs pos="17000">
                      <a:srgbClr val="000000">
                        <a:alpha val="45882"/>
                      </a:srgbClr>
                    </a:gs>
                    <a:gs pos="34000">
                      <a:srgbClr val="000000">
                        <a:alpha val="42745"/>
                      </a:srgbClr>
                    </a:gs>
                    <a:gs pos="51000">
                      <a:srgbClr val="000000">
                        <a:alpha val="20000"/>
                      </a:srgbClr>
                    </a:gs>
                    <a:gs pos="65000">
                      <a:srgbClr val="000000">
                        <a:alpha val="9803"/>
                      </a:srgbClr>
                    </a:gs>
                    <a:gs pos="78000">
                      <a:srgbClr val="000000">
                        <a:alpha val="4705"/>
                      </a:srgbClr>
                    </a:gs>
                    <a:gs pos="100000">
                      <a:srgbClr val="000000">
                        <a:alpha val="0"/>
                      </a:srgbClr>
                    </a:gs>
                  </a:gsLst>
                  <a:lin ang="54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chemeClr val="lt1"/>
                    </a:solidFill>
                    <a:latin typeface="Arial"/>
                    <a:ea typeface="Arial"/>
                    <a:cs typeface="Arial"/>
                    <a:sym typeface="Arial"/>
                  </a:endParaRPr>
                </a:p>
              </p:txBody>
            </p:sp>
            <p:sp>
              <p:nvSpPr>
                <p:cNvPr id="197" name="Google Shape;197;p5"/>
                <p:cNvSpPr/>
                <p:nvPr/>
              </p:nvSpPr>
              <p:spPr>
                <a:xfrm>
                  <a:off x="7567583" y="3243359"/>
                  <a:ext cx="1344545" cy="1344543"/>
                </a:xfrm>
                <a:prstGeom prst="ellipse">
                  <a:avLst/>
                </a:prstGeom>
                <a:gradFill>
                  <a:gsLst>
                    <a:gs pos="0">
                      <a:srgbClr val="FFFFFF">
                        <a:alpha val="98823"/>
                      </a:srgbClr>
                    </a:gs>
                    <a:gs pos="43000">
                      <a:srgbClr val="F7F7F7"/>
                    </a:gs>
                    <a:gs pos="100000">
                      <a:srgbClr val="B8C0C0"/>
                    </a:gs>
                  </a:gsLst>
                  <a:lin ang="2700000" scaled="0"/>
                </a:gradFill>
                <a:ln>
                  <a:noFill/>
                </a:ln>
                <a:effectLst>
                  <a:outerShdw blurRad="139700" dist="88900" dir="2700000" algn="tl" rotWithShape="0">
                    <a:srgbClr val="494949">
                      <a:alpha val="29803"/>
                    </a:srgb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chemeClr val="lt1"/>
                    </a:solidFill>
                    <a:latin typeface="Arial"/>
                    <a:ea typeface="Arial"/>
                    <a:cs typeface="Arial"/>
                    <a:sym typeface="Arial"/>
                  </a:endParaRPr>
                </a:p>
              </p:txBody>
            </p:sp>
            <p:sp>
              <p:nvSpPr>
                <p:cNvPr id="198" name="Google Shape;198;p5"/>
                <p:cNvSpPr/>
                <p:nvPr/>
              </p:nvSpPr>
              <p:spPr>
                <a:xfrm>
                  <a:off x="7380501" y="3019185"/>
                  <a:ext cx="1596494" cy="1596494"/>
                </a:xfrm>
                <a:prstGeom prst="ellipse">
                  <a:avLst/>
                </a:prstGeom>
                <a:gradFill>
                  <a:gsLst>
                    <a:gs pos="0">
                      <a:srgbClr val="FFFFFF">
                        <a:alpha val="98823"/>
                      </a:srgbClr>
                    </a:gs>
                    <a:gs pos="11000">
                      <a:srgbClr val="FFFFFF">
                        <a:alpha val="98823"/>
                      </a:srgbClr>
                    </a:gs>
                    <a:gs pos="39000">
                      <a:schemeClr val="lt1"/>
                    </a:gs>
                    <a:gs pos="52999">
                      <a:srgbClr val="F7F7F7"/>
                    </a:gs>
                    <a:gs pos="100000">
                      <a:srgbClr val="B8C0C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chemeClr val="lt1"/>
                    </a:solidFill>
                    <a:latin typeface="Arial"/>
                    <a:ea typeface="Arial"/>
                    <a:cs typeface="Arial"/>
                    <a:sym typeface="Arial"/>
                  </a:endParaRPr>
                </a:p>
              </p:txBody>
            </p:sp>
          </p:grpSp>
          <p:sp>
            <p:nvSpPr>
              <p:cNvPr id="199" name="Google Shape;199;p5"/>
              <p:cNvSpPr/>
              <p:nvPr/>
            </p:nvSpPr>
            <p:spPr>
              <a:xfrm>
                <a:off x="3222820" y="1148080"/>
                <a:ext cx="1284820" cy="1284821"/>
              </a:xfrm>
              <a:prstGeom prst="ellipse">
                <a:avLst/>
              </a:prstGeom>
              <a:solidFill>
                <a:schemeClr val="lt1">
                  <a:alpha val="13725"/>
                </a:schemeClr>
              </a:solidFill>
              <a:ln w="15875" cap="flat" cmpd="sng">
                <a:solidFill>
                  <a:schemeClr val="lt1"/>
                </a:solidFill>
                <a:prstDash val="solid"/>
                <a:miter lim="800000"/>
                <a:headEnd type="none" w="sm" len="sm"/>
                <a:tailEnd type="none" w="sm" len="sm"/>
              </a:ln>
              <a:effectLst>
                <a:outerShdw blurRad="215900" dist="88900" dir="2700000" algn="tl" rotWithShape="0">
                  <a:srgbClr val="000000">
                    <a:alpha val="10980"/>
                  </a:srgb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chemeClr val="lt1"/>
                  </a:solidFill>
                  <a:latin typeface="Arial"/>
                  <a:ea typeface="Arial"/>
                  <a:cs typeface="Arial"/>
                  <a:sym typeface="Arial"/>
                </a:endParaRPr>
              </a:p>
            </p:txBody>
          </p:sp>
        </p:grpSp>
        <p:sp>
          <p:nvSpPr>
            <p:cNvPr id="200" name="Google Shape;200;p5"/>
            <p:cNvSpPr txBox="1"/>
            <p:nvPr/>
          </p:nvSpPr>
          <p:spPr>
            <a:xfrm>
              <a:off x="3514455" y="1292811"/>
              <a:ext cx="774240" cy="7206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rgbClr val="FFB850"/>
                  </a:solidFill>
                  <a:latin typeface="Impact"/>
                  <a:ea typeface="Impact"/>
                  <a:cs typeface="Impact"/>
                  <a:sym typeface="Impact"/>
                </a:rPr>
                <a:t>01</a:t>
              </a:r>
              <a:endParaRPr sz="2800">
                <a:solidFill>
                  <a:srgbClr val="FFB850"/>
                </a:solidFill>
                <a:latin typeface="Impact"/>
                <a:ea typeface="Impact"/>
                <a:cs typeface="Impact"/>
                <a:sym typeface="Impact"/>
              </a:endParaRPr>
            </a:p>
          </p:txBody>
        </p:sp>
      </p:grpSp>
      <p:sp>
        <p:nvSpPr>
          <p:cNvPr id="201" name="Google Shape;201;p5"/>
          <p:cNvSpPr txBox="1"/>
          <p:nvPr/>
        </p:nvSpPr>
        <p:spPr>
          <a:xfrm>
            <a:off x="2980807" y="1521544"/>
            <a:ext cx="6905838"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dirty="0">
                <a:solidFill>
                  <a:schemeClr val="dk1"/>
                </a:solidFill>
                <a:latin typeface="Times New Roman"/>
                <a:ea typeface="Times New Roman"/>
                <a:cs typeface="Times New Roman"/>
                <a:sym typeface="Times New Roman"/>
              </a:rPr>
              <a:t>Spring validator</a:t>
            </a:r>
            <a:endParaRPr sz="2800" b="1" dirty="0">
              <a:solidFill>
                <a:schemeClr val="dk1"/>
              </a:solidFill>
              <a:latin typeface="Times New Roman"/>
              <a:ea typeface="Times New Roman"/>
              <a:cs typeface="Times New Roman"/>
              <a:sym typeface="Times New Roman"/>
            </a:endParaRPr>
          </a:p>
        </p:txBody>
      </p:sp>
      <p:sp>
        <p:nvSpPr>
          <p:cNvPr id="202" name="Google Shape;202;p5"/>
          <p:cNvSpPr/>
          <p:nvPr/>
        </p:nvSpPr>
        <p:spPr>
          <a:xfrm>
            <a:off x="1670730" y="2505849"/>
            <a:ext cx="8616269" cy="3437751"/>
          </a:xfrm>
          <a:prstGeom prst="rect">
            <a:avLst/>
          </a:prstGeom>
          <a:solidFill>
            <a:schemeClr val="lt1"/>
          </a:solidFill>
          <a:ln w="12700" cap="flat" cmpd="sng">
            <a:solidFill>
              <a:schemeClr val="accent4"/>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vi-VN" sz="2800" b="0" i="0" dirty="0">
                <a:solidFill>
                  <a:srgbClr val="222222"/>
                </a:solidFill>
                <a:effectLst/>
                <a:latin typeface="Times New Roman" panose="02020603050405020304" pitchFamily="18" charset="0"/>
                <a:cs typeface="Times New Roman" panose="02020603050405020304" pitchFamily="18" charset="0"/>
              </a:rPr>
              <a:t>là một thành phần quan trọng trong Spring Framework, giúp bạn xác thực dữ liệu đầu vào trong các ứng dụng Spring. Validator được tích hợp chặt chẽ với Spring MVC và Bean Validation (JSR-303/JSR-380), hỗ trợ kiểm tra các ràng buộc của dữ liệu trước khi xử lý logic nghiệp vụ.</a:t>
            </a:r>
            <a:endParaRPr lang="vi-VN" sz="2800" dirty="0">
              <a:solidFill>
                <a:schemeClr val="dk1"/>
              </a:solidFill>
              <a:latin typeface="Times New Roman" panose="02020603050405020304" pitchFamily="18" charset="0"/>
              <a:ea typeface="Times New Roman"/>
              <a:cs typeface="Times New Roman" panose="02020603050405020304" pitchFamily="18" charset="0"/>
              <a:sym typeface="Times New Roman"/>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93"/>
                                        </p:tgtEl>
                                        <p:attrNameLst>
                                          <p:attrName>style.visibility</p:attrName>
                                        </p:attrNameLst>
                                      </p:cBhvr>
                                      <p:to>
                                        <p:strVal val="visible"/>
                                      </p:to>
                                    </p:set>
                                    <p:anim calcmode="lin" valueType="num">
                                      <p:cBhvr additive="base">
                                        <p:cTn id="7" dur="500"/>
                                        <p:tgtEl>
                                          <p:spTgt spid="193"/>
                                        </p:tgtEl>
                                        <p:attrNameLst>
                                          <p:attrName>ppt_x</p:attrName>
                                        </p:attrNameLst>
                                      </p:cBhvr>
                                      <p:tavLst>
                                        <p:tav tm="0">
                                          <p:val>
                                            <p:strVal val="#ppt_x-1"/>
                                          </p:val>
                                        </p:tav>
                                        <p:tav tm="100000">
                                          <p:val>
                                            <p:strVal val="#ppt_x"/>
                                          </p:val>
                                        </p:tav>
                                      </p:tavLst>
                                    </p:anim>
                                  </p:childTnLst>
                                </p:cTn>
                              </p:par>
                              <p:par>
                                <p:cTn id="8" presetID="2" presetClass="entr" presetSubtype="2" fill="hold" nodeType="withEffect">
                                  <p:stCondLst>
                                    <p:cond delay="0"/>
                                  </p:stCondLst>
                                  <p:childTnLst>
                                    <p:set>
                                      <p:cBhvr>
                                        <p:cTn id="9" dur="1" fill="hold">
                                          <p:stCondLst>
                                            <p:cond delay="0"/>
                                          </p:stCondLst>
                                        </p:cTn>
                                        <p:tgtEl>
                                          <p:spTgt spid="190"/>
                                        </p:tgtEl>
                                        <p:attrNameLst>
                                          <p:attrName>style.visibility</p:attrName>
                                        </p:attrNameLst>
                                      </p:cBhvr>
                                      <p:to>
                                        <p:strVal val="visible"/>
                                      </p:to>
                                    </p:set>
                                    <p:anim calcmode="lin" valueType="num">
                                      <p:cBhvr additive="base">
                                        <p:cTn id="10" dur="500"/>
                                        <p:tgtEl>
                                          <p:spTgt spid="190"/>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86">
          <a:extLst>
            <a:ext uri="{FF2B5EF4-FFF2-40B4-BE49-F238E27FC236}">
              <a16:creationId xmlns:a16="http://schemas.microsoft.com/office/drawing/2014/main" id="{5807CBD7-0965-811F-8686-39AB379B8F05}"/>
            </a:ext>
          </a:extLst>
        </p:cNvPr>
        <p:cNvGrpSpPr/>
        <p:nvPr/>
      </p:nvGrpSpPr>
      <p:grpSpPr>
        <a:xfrm>
          <a:off x="0" y="0"/>
          <a:ext cx="0" cy="0"/>
          <a:chOff x="0" y="0"/>
          <a:chExt cx="0" cy="0"/>
        </a:xfrm>
      </p:grpSpPr>
      <p:grpSp>
        <p:nvGrpSpPr>
          <p:cNvPr id="190" name="Google Shape;190;p5">
            <a:extLst>
              <a:ext uri="{FF2B5EF4-FFF2-40B4-BE49-F238E27FC236}">
                <a16:creationId xmlns:a16="http://schemas.microsoft.com/office/drawing/2014/main" id="{7847A552-D9B8-B262-F27E-0478E456C38E}"/>
              </a:ext>
            </a:extLst>
          </p:cNvPr>
          <p:cNvGrpSpPr/>
          <p:nvPr/>
        </p:nvGrpSpPr>
        <p:grpSpPr>
          <a:xfrm>
            <a:off x="1670730" y="1263299"/>
            <a:ext cx="8616270" cy="1007332"/>
            <a:chOff x="3129129" y="1121776"/>
            <a:chExt cx="5933741" cy="1171624"/>
          </a:xfrm>
        </p:grpSpPr>
        <p:sp>
          <p:nvSpPr>
            <p:cNvPr id="191" name="Google Shape;191;p5">
              <a:extLst>
                <a:ext uri="{FF2B5EF4-FFF2-40B4-BE49-F238E27FC236}">
                  <a16:creationId xmlns:a16="http://schemas.microsoft.com/office/drawing/2014/main" id="{539ABDD1-18EF-1AC8-A527-976C6B82D29A}"/>
                </a:ext>
              </a:extLst>
            </p:cNvPr>
            <p:cNvSpPr/>
            <p:nvPr/>
          </p:nvSpPr>
          <p:spPr>
            <a:xfrm>
              <a:off x="3129129" y="1121776"/>
              <a:ext cx="5933741" cy="1171624"/>
            </a:xfrm>
            <a:prstGeom prst="roundRect">
              <a:avLst>
                <a:gd name="adj" fmla="val 50000"/>
              </a:avLst>
            </a:prstGeom>
            <a:solidFill>
              <a:srgbClr val="D8D8D8">
                <a:alpha val="49803"/>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rgbClr val="FFAA2D"/>
                </a:solidFill>
                <a:latin typeface="Arial"/>
                <a:ea typeface="Arial"/>
                <a:cs typeface="Arial"/>
                <a:sym typeface="Arial"/>
              </a:endParaRPr>
            </a:p>
          </p:txBody>
        </p:sp>
        <p:sp>
          <p:nvSpPr>
            <p:cNvPr id="192" name="Google Shape;192;p5">
              <a:extLst>
                <a:ext uri="{FF2B5EF4-FFF2-40B4-BE49-F238E27FC236}">
                  <a16:creationId xmlns:a16="http://schemas.microsoft.com/office/drawing/2014/main" id="{08F97829-6C24-9E79-94F6-91987802833F}"/>
                </a:ext>
              </a:extLst>
            </p:cNvPr>
            <p:cNvSpPr/>
            <p:nvPr/>
          </p:nvSpPr>
          <p:spPr>
            <a:xfrm>
              <a:off x="3289330" y="1253414"/>
              <a:ext cx="5613340" cy="908350"/>
            </a:xfrm>
            <a:prstGeom prst="roundRect">
              <a:avLst>
                <a:gd name="adj" fmla="val 50000"/>
              </a:avLst>
            </a:prstGeom>
            <a:gradFill>
              <a:gsLst>
                <a:gs pos="0">
                  <a:srgbClr val="FFAA2D"/>
                </a:gs>
                <a:gs pos="100000">
                  <a:srgbClr val="FFD393"/>
                </a:gs>
              </a:gsLst>
              <a:lin ang="0" scaled="0"/>
            </a:gradFill>
            <a:ln w="19050" cap="flat" cmpd="sng">
              <a:solidFill>
                <a:srgbClr val="BFBFB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rgbClr val="FFAA2D"/>
                </a:solidFill>
                <a:latin typeface="Arial"/>
                <a:ea typeface="Arial"/>
                <a:cs typeface="Arial"/>
                <a:sym typeface="Arial"/>
              </a:endParaRPr>
            </a:p>
          </p:txBody>
        </p:sp>
      </p:grpSp>
      <p:grpSp>
        <p:nvGrpSpPr>
          <p:cNvPr id="193" name="Google Shape;193;p5">
            <a:extLst>
              <a:ext uri="{FF2B5EF4-FFF2-40B4-BE49-F238E27FC236}">
                <a16:creationId xmlns:a16="http://schemas.microsoft.com/office/drawing/2014/main" id="{9AFAE4B6-956A-ACB0-6B41-26E486F532EB}"/>
              </a:ext>
            </a:extLst>
          </p:cNvPr>
          <p:cNvGrpSpPr/>
          <p:nvPr/>
        </p:nvGrpSpPr>
        <p:grpSpPr>
          <a:xfrm>
            <a:off x="1782659" y="1240148"/>
            <a:ext cx="1674310" cy="1522886"/>
            <a:chOff x="3020983" y="881796"/>
            <a:chExt cx="2097410" cy="2097410"/>
          </a:xfrm>
        </p:grpSpPr>
        <p:grpSp>
          <p:nvGrpSpPr>
            <p:cNvPr id="194" name="Google Shape;194;p5">
              <a:extLst>
                <a:ext uri="{FF2B5EF4-FFF2-40B4-BE49-F238E27FC236}">
                  <a16:creationId xmlns:a16="http://schemas.microsoft.com/office/drawing/2014/main" id="{DF941BF6-3B6B-8964-A020-20781E3DF628}"/>
                </a:ext>
              </a:extLst>
            </p:cNvPr>
            <p:cNvGrpSpPr/>
            <p:nvPr/>
          </p:nvGrpSpPr>
          <p:grpSpPr>
            <a:xfrm>
              <a:off x="3020983" y="881796"/>
              <a:ext cx="2097410" cy="2097410"/>
              <a:chOff x="3099689" y="1098878"/>
              <a:chExt cx="1995612" cy="1995615"/>
            </a:xfrm>
          </p:grpSpPr>
          <p:grpSp>
            <p:nvGrpSpPr>
              <p:cNvPr id="195" name="Google Shape;195;p5">
                <a:extLst>
                  <a:ext uri="{FF2B5EF4-FFF2-40B4-BE49-F238E27FC236}">
                    <a16:creationId xmlns:a16="http://schemas.microsoft.com/office/drawing/2014/main" id="{9C701A55-A7FD-1C99-B55C-770C666AD755}"/>
                  </a:ext>
                </a:extLst>
              </p:cNvPr>
              <p:cNvGrpSpPr/>
              <p:nvPr/>
            </p:nvGrpSpPr>
            <p:grpSpPr>
              <a:xfrm>
                <a:off x="3099689" y="1098878"/>
                <a:ext cx="1995612" cy="1995615"/>
                <a:chOff x="6804316" y="2574806"/>
                <a:chExt cx="3585705" cy="3585705"/>
              </a:xfrm>
            </p:grpSpPr>
            <p:sp>
              <p:nvSpPr>
                <p:cNvPr id="196" name="Google Shape;196;p5">
                  <a:extLst>
                    <a:ext uri="{FF2B5EF4-FFF2-40B4-BE49-F238E27FC236}">
                      <a16:creationId xmlns:a16="http://schemas.microsoft.com/office/drawing/2014/main" id="{FA3ED7D3-4D32-E5F4-180B-8A90F2F65D55}"/>
                    </a:ext>
                  </a:extLst>
                </p:cNvPr>
                <p:cNvSpPr/>
                <p:nvPr/>
              </p:nvSpPr>
              <p:spPr>
                <a:xfrm rot="-2700000">
                  <a:off x="7501948" y="2927402"/>
                  <a:ext cx="2190440" cy="2880512"/>
                </a:xfrm>
                <a:custGeom>
                  <a:avLst/>
                  <a:gdLst/>
                  <a:ahLst/>
                  <a:cxnLst/>
                  <a:rect l="l" t="t" r="r" b="b"/>
                  <a:pathLst>
                    <a:path w="1696474" h="2070736" extrusionOk="0">
                      <a:moveTo>
                        <a:pt x="13249" y="1035368"/>
                      </a:moveTo>
                      <a:cubicBezTo>
                        <a:pt x="112309" y="471170"/>
                        <a:pt x="388098" y="0"/>
                        <a:pt x="850497" y="0"/>
                      </a:cubicBezTo>
                      <a:cubicBezTo>
                        <a:pt x="1312896" y="0"/>
                        <a:pt x="1611545" y="478790"/>
                        <a:pt x="1687745" y="1035368"/>
                      </a:cubicBezTo>
                      <a:cubicBezTo>
                        <a:pt x="1765308" y="1601901"/>
                        <a:pt x="1312896" y="2070736"/>
                        <a:pt x="850497" y="2070736"/>
                      </a:cubicBezTo>
                      <a:cubicBezTo>
                        <a:pt x="388098" y="2070736"/>
                        <a:pt x="-85811" y="1599566"/>
                        <a:pt x="13249" y="1035368"/>
                      </a:cubicBezTo>
                      <a:close/>
                    </a:path>
                  </a:pathLst>
                </a:custGeom>
                <a:gradFill>
                  <a:gsLst>
                    <a:gs pos="0">
                      <a:schemeClr val="dk1"/>
                    </a:gs>
                    <a:gs pos="17000">
                      <a:srgbClr val="000000">
                        <a:alpha val="45882"/>
                      </a:srgbClr>
                    </a:gs>
                    <a:gs pos="34000">
                      <a:srgbClr val="000000">
                        <a:alpha val="42745"/>
                      </a:srgbClr>
                    </a:gs>
                    <a:gs pos="51000">
                      <a:srgbClr val="000000">
                        <a:alpha val="20000"/>
                      </a:srgbClr>
                    </a:gs>
                    <a:gs pos="65000">
                      <a:srgbClr val="000000">
                        <a:alpha val="9803"/>
                      </a:srgbClr>
                    </a:gs>
                    <a:gs pos="78000">
                      <a:srgbClr val="000000">
                        <a:alpha val="4705"/>
                      </a:srgbClr>
                    </a:gs>
                    <a:gs pos="100000">
                      <a:srgbClr val="000000">
                        <a:alpha val="0"/>
                      </a:srgbClr>
                    </a:gs>
                  </a:gsLst>
                  <a:lin ang="54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chemeClr val="lt1"/>
                    </a:solidFill>
                    <a:latin typeface="Arial"/>
                    <a:ea typeface="Arial"/>
                    <a:cs typeface="Arial"/>
                    <a:sym typeface="Arial"/>
                  </a:endParaRPr>
                </a:p>
              </p:txBody>
            </p:sp>
            <p:sp>
              <p:nvSpPr>
                <p:cNvPr id="197" name="Google Shape;197;p5">
                  <a:extLst>
                    <a:ext uri="{FF2B5EF4-FFF2-40B4-BE49-F238E27FC236}">
                      <a16:creationId xmlns:a16="http://schemas.microsoft.com/office/drawing/2014/main" id="{EBFEB313-5B3D-0824-D50F-B0AD92543563}"/>
                    </a:ext>
                  </a:extLst>
                </p:cNvPr>
                <p:cNvSpPr/>
                <p:nvPr/>
              </p:nvSpPr>
              <p:spPr>
                <a:xfrm>
                  <a:off x="7567583" y="3243359"/>
                  <a:ext cx="1344545" cy="1344543"/>
                </a:xfrm>
                <a:prstGeom prst="ellipse">
                  <a:avLst/>
                </a:prstGeom>
                <a:gradFill>
                  <a:gsLst>
                    <a:gs pos="0">
                      <a:srgbClr val="FFFFFF">
                        <a:alpha val="98823"/>
                      </a:srgbClr>
                    </a:gs>
                    <a:gs pos="43000">
                      <a:srgbClr val="F7F7F7"/>
                    </a:gs>
                    <a:gs pos="100000">
                      <a:srgbClr val="B8C0C0"/>
                    </a:gs>
                  </a:gsLst>
                  <a:lin ang="2700000" scaled="0"/>
                </a:gradFill>
                <a:ln>
                  <a:noFill/>
                </a:ln>
                <a:effectLst>
                  <a:outerShdw blurRad="139700" dist="88900" dir="2700000" algn="tl" rotWithShape="0">
                    <a:srgbClr val="494949">
                      <a:alpha val="29803"/>
                    </a:srgb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chemeClr val="lt1"/>
                    </a:solidFill>
                    <a:latin typeface="Arial"/>
                    <a:ea typeface="Arial"/>
                    <a:cs typeface="Arial"/>
                    <a:sym typeface="Arial"/>
                  </a:endParaRPr>
                </a:p>
              </p:txBody>
            </p:sp>
            <p:sp>
              <p:nvSpPr>
                <p:cNvPr id="198" name="Google Shape;198;p5">
                  <a:extLst>
                    <a:ext uri="{FF2B5EF4-FFF2-40B4-BE49-F238E27FC236}">
                      <a16:creationId xmlns:a16="http://schemas.microsoft.com/office/drawing/2014/main" id="{B5B0345F-244B-5B88-1DF8-7B783B040469}"/>
                    </a:ext>
                  </a:extLst>
                </p:cNvPr>
                <p:cNvSpPr/>
                <p:nvPr/>
              </p:nvSpPr>
              <p:spPr>
                <a:xfrm>
                  <a:off x="7380501" y="3019185"/>
                  <a:ext cx="1596494" cy="1596494"/>
                </a:xfrm>
                <a:prstGeom prst="ellipse">
                  <a:avLst/>
                </a:prstGeom>
                <a:gradFill>
                  <a:gsLst>
                    <a:gs pos="0">
                      <a:srgbClr val="FFFFFF">
                        <a:alpha val="98823"/>
                      </a:srgbClr>
                    </a:gs>
                    <a:gs pos="11000">
                      <a:srgbClr val="FFFFFF">
                        <a:alpha val="98823"/>
                      </a:srgbClr>
                    </a:gs>
                    <a:gs pos="39000">
                      <a:schemeClr val="lt1"/>
                    </a:gs>
                    <a:gs pos="52999">
                      <a:srgbClr val="F7F7F7"/>
                    </a:gs>
                    <a:gs pos="100000">
                      <a:srgbClr val="B8C0C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chemeClr val="lt1"/>
                    </a:solidFill>
                    <a:latin typeface="Arial"/>
                    <a:ea typeface="Arial"/>
                    <a:cs typeface="Arial"/>
                    <a:sym typeface="Arial"/>
                  </a:endParaRPr>
                </a:p>
              </p:txBody>
            </p:sp>
          </p:grpSp>
          <p:sp>
            <p:nvSpPr>
              <p:cNvPr id="199" name="Google Shape;199;p5">
                <a:extLst>
                  <a:ext uri="{FF2B5EF4-FFF2-40B4-BE49-F238E27FC236}">
                    <a16:creationId xmlns:a16="http://schemas.microsoft.com/office/drawing/2014/main" id="{07EFD307-A0E3-9DA7-0E8B-14D013AFF54F}"/>
                  </a:ext>
                </a:extLst>
              </p:cNvPr>
              <p:cNvSpPr/>
              <p:nvPr/>
            </p:nvSpPr>
            <p:spPr>
              <a:xfrm>
                <a:off x="3222820" y="1148080"/>
                <a:ext cx="1284820" cy="1284821"/>
              </a:xfrm>
              <a:prstGeom prst="ellipse">
                <a:avLst/>
              </a:prstGeom>
              <a:solidFill>
                <a:schemeClr val="lt1">
                  <a:alpha val="13725"/>
                </a:schemeClr>
              </a:solidFill>
              <a:ln w="15875" cap="flat" cmpd="sng">
                <a:solidFill>
                  <a:schemeClr val="lt1"/>
                </a:solidFill>
                <a:prstDash val="solid"/>
                <a:miter lim="800000"/>
                <a:headEnd type="none" w="sm" len="sm"/>
                <a:tailEnd type="none" w="sm" len="sm"/>
              </a:ln>
              <a:effectLst>
                <a:outerShdw blurRad="215900" dist="88900" dir="2700000" algn="tl" rotWithShape="0">
                  <a:srgbClr val="000000">
                    <a:alpha val="10980"/>
                  </a:srgb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chemeClr val="lt1"/>
                  </a:solidFill>
                  <a:latin typeface="Arial"/>
                  <a:ea typeface="Arial"/>
                  <a:cs typeface="Arial"/>
                  <a:sym typeface="Arial"/>
                </a:endParaRPr>
              </a:p>
            </p:txBody>
          </p:sp>
        </p:grpSp>
        <p:sp>
          <p:nvSpPr>
            <p:cNvPr id="200" name="Google Shape;200;p5">
              <a:extLst>
                <a:ext uri="{FF2B5EF4-FFF2-40B4-BE49-F238E27FC236}">
                  <a16:creationId xmlns:a16="http://schemas.microsoft.com/office/drawing/2014/main" id="{06A18981-5A54-2EB3-18AD-0840B29A1B74}"/>
                </a:ext>
              </a:extLst>
            </p:cNvPr>
            <p:cNvSpPr txBox="1"/>
            <p:nvPr/>
          </p:nvSpPr>
          <p:spPr>
            <a:xfrm>
              <a:off x="3514455" y="1292811"/>
              <a:ext cx="774240" cy="7206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rgbClr val="FFB850"/>
                  </a:solidFill>
                  <a:latin typeface="Impact"/>
                  <a:ea typeface="Impact"/>
                  <a:cs typeface="Impact"/>
                  <a:sym typeface="Impact"/>
                </a:rPr>
                <a:t>01</a:t>
              </a:r>
              <a:endParaRPr sz="2800">
                <a:solidFill>
                  <a:srgbClr val="FFB850"/>
                </a:solidFill>
                <a:latin typeface="Impact"/>
                <a:ea typeface="Impact"/>
                <a:cs typeface="Impact"/>
                <a:sym typeface="Impact"/>
              </a:endParaRPr>
            </a:p>
          </p:txBody>
        </p:sp>
      </p:grpSp>
      <p:sp>
        <p:nvSpPr>
          <p:cNvPr id="201" name="Google Shape;201;p5">
            <a:extLst>
              <a:ext uri="{FF2B5EF4-FFF2-40B4-BE49-F238E27FC236}">
                <a16:creationId xmlns:a16="http://schemas.microsoft.com/office/drawing/2014/main" id="{78CFF0E9-3976-E83E-4FB5-8D56211CA6E9}"/>
              </a:ext>
            </a:extLst>
          </p:cNvPr>
          <p:cNvSpPr txBox="1"/>
          <p:nvPr/>
        </p:nvSpPr>
        <p:spPr>
          <a:xfrm>
            <a:off x="2980807" y="1521544"/>
            <a:ext cx="6905838"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dirty="0">
                <a:solidFill>
                  <a:schemeClr val="dk1"/>
                </a:solidFill>
                <a:latin typeface="Times New Roman"/>
                <a:ea typeface="Times New Roman"/>
                <a:cs typeface="Times New Roman"/>
                <a:sym typeface="Times New Roman"/>
              </a:rPr>
              <a:t>Spring validator</a:t>
            </a:r>
            <a:endParaRPr sz="2800" b="1" dirty="0">
              <a:solidFill>
                <a:schemeClr val="dk1"/>
              </a:solidFill>
              <a:latin typeface="Times New Roman"/>
              <a:ea typeface="Times New Roman"/>
              <a:cs typeface="Times New Roman"/>
              <a:sym typeface="Times New Roman"/>
            </a:endParaRPr>
          </a:p>
        </p:txBody>
      </p:sp>
      <p:sp>
        <p:nvSpPr>
          <p:cNvPr id="202" name="Google Shape;202;p5">
            <a:extLst>
              <a:ext uri="{FF2B5EF4-FFF2-40B4-BE49-F238E27FC236}">
                <a16:creationId xmlns:a16="http://schemas.microsoft.com/office/drawing/2014/main" id="{72BA473B-0BF0-A823-B57D-59D81B47191C}"/>
              </a:ext>
            </a:extLst>
          </p:cNvPr>
          <p:cNvSpPr/>
          <p:nvPr/>
        </p:nvSpPr>
        <p:spPr>
          <a:xfrm>
            <a:off x="1670730" y="2505849"/>
            <a:ext cx="8616269" cy="3437751"/>
          </a:xfrm>
          <a:prstGeom prst="rect">
            <a:avLst/>
          </a:prstGeom>
          <a:solidFill>
            <a:schemeClr val="lt1"/>
          </a:solidFill>
          <a:ln w="12700" cap="flat" cmpd="sng">
            <a:solidFill>
              <a:schemeClr val="accent4"/>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vi-VN" sz="2800" b="0" i="0" dirty="0">
                <a:solidFill>
                  <a:srgbClr val="222222"/>
                </a:solidFill>
                <a:effectLst/>
                <a:latin typeface="Times New Roman" panose="02020603050405020304" pitchFamily="18" charset="0"/>
                <a:cs typeface="Times New Roman" panose="02020603050405020304" pitchFamily="18" charset="0"/>
              </a:rPr>
              <a:t>Spring Validator hoạt động dựa trên hai thành phần chính:</a:t>
            </a:r>
            <a:endParaRPr lang="en-US" sz="2800" b="0" i="0" dirty="0">
              <a:solidFill>
                <a:srgbClr val="222222"/>
              </a:solidFill>
              <a:effectLst/>
              <a:latin typeface="Times New Roman" panose="02020603050405020304" pitchFamily="18" charset="0"/>
              <a:cs typeface="Times New Roman" panose="02020603050405020304" pitchFamily="18" charset="0"/>
            </a:endParaRPr>
          </a:p>
          <a:p>
            <a:pPr marL="457200" marR="0" lvl="0" indent="-457200" algn="l" rtl="0">
              <a:spcBef>
                <a:spcPts val="0"/>
              </a:spcBef>
              <a:spcAft>
                <a:spcPts val="0"/>
              </a:spcAft>
              <a:buFontTx/>
              <a:buChar char="-"/>
            </a:pPr>
            <a:r>
              <a:rPr lang="vi-VN" sz="2800" b="0" i="0" dirty="0">
                <a:solidFill>
                  <a:srgbClr val="222222"/>
                </a:solidFill>
                <a:effectLst/>
                <a:latin typeface="Times New Roman" panose="02020603050405020304" pitchFamily="18" charset="0"/>
                <a:cs typeface="Times New Roman" panose="02020603050405020304" pitchFamily="18" charset="0"/>
              </a:rPr>
              <a:t>Interface Validator: Đây là giao diện cung cấp phương thức để kiểm tra tính hợp lệ của một đối tượng.</a:t>
            </a:r>
            <a:endParaRPr lang="en-US" sz="2800" b="0" i="0" dirty="0">
              <a:solidFill>
                <a:srgbClr val="222222"/>
              </a:solidFill>
              <a:effectLst/>
              <a:latin typeface="Times New Roman" panose="02020603050405020304" pitchFamily="18" charset="0"/>
              <a:cs typeface="Times New Roman" panose="02020603050405020304" pitchFamily="18" charset="0"/>
            </a:endParaRPr>
          </a:p>
          <a:p>
            <a:pPr marL="457200" marR="0" lvl="0" indent="-457200" algn="l" rtl="0">
              <a:spcBef>
                <a:spcPts val="0"/>
              </a:spcBef>
              <a:spcAft>
                <a:spcPts val="0"/>
              </a:spcAft>
              <a:buFontTx/>
              <a:buChar char="-"/>
            </a:pPr>
            <a:r>
              <a:rPr lang="vi-VN" sz="2800" b="0" i="0" dirty="0">
                <a:solidFill>
                  <a:srgbClr val="222222"/>
                </a:solidFill>
                <a:effectLst/>
                <a:latin typeface="Times New Roman" panose="02020603050405020304" pitchFamily="18" charset="0"/>
                <a:cs typeface="Times New Roman" panose="02020603050405020304" pitchFamily="18" charset="0"/>
              </a:rPr>
              <a:t>Bean Validation (JSR 303/JSR 380): Sử dụng các annotation như @NotNull, @Size, @Email, v.v., để xác thực dữ liệu.</a:t>
            </a:r>
            <a:endParaRPr lang="vi-VN" sz="2800" dirty="0">
              <a:solidFill>
                <a:schemeClr val="dk1"/>
              </a:solidFill>
              <a:latin typeface="Times New Roman" panose="02020603050405020304" pitchFamily="18" charset="0"/>
              <a:ea typeface="Times New Roman"/>
              <a:cs typeface="Times New Roman" panose="02020603050405020304" pitchFamily="18" charset="0"/>
              <a:sym typeface="Times New Roman"/>
            </a:endParaRPr>
          </a:p>
        </p:txBody>
      </p:sp>
    </p:spTree>
    <p:extLst>
      <p:ext uri="{BB962C8B-B14F-4D97-AF65-F5344CB8AC3E}">
        <p14:creationId xmlns:p14="http://schemas.microsoft.com/office/powerpoint/2010/main" val="17142711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93"/>
                                        </p:tgtEl>
                                        <p:attrNameLst>
                                          <p:attrName>style.visibility</p:attrName>
                                        </p:attrNameLst>
                                      </p:cBhvr>
                                      <p:to>
                                        <p:strVal val="visible"/>
                                      </p:to>
                                    </p:set>
                                    <p:anim calcmode="lin" valueType="num">
                                      <p:cBhvr additive="base">
                                        <p:cTn id="7" dur="500"/>
                                        <p:tgtEl>
                                          <p:spTgt spid="193"/>
                                        </p:tgtEl>
                                        <p:attrNameLst>
                                          <p:attrName>ppt_x</p:attrName>
                                        </p:attrNameLst>
                                      </p:cBhvr>
                                      <p:tavLst>
                                        <p:tav tm="0">
                                          <p:val>
                                            <p:strVal val="#ppt_x-1"/>
                                          </p:val>
                                        </p:tav>
                                        <p:tav tm="100000">
                                          <p:val>
                                            <p:strVal val="#ppt_x"/>
                                          </p:val>
                                        </p:tav>
                                      </p:tavLst>
                                    </p:anim>
                                  </p:childTnLst>
                                </p:cTn>
                              </p:par>
                              <p:par>
                                <p:cTn id="8" presetID="2" presetClass="entr" presetSubtype="2" fill="hold" nodeType="withEffect">
                                  <p:stCondLst>
                                    <p:cond delay="0"/>
                                  </p:stCondLst>
                                  <p:childTnLst>
                                    <p:set>
                                      <p:cBhvr>
                                        <p:cTn id="9" dur="1" fill="hold">
                                          <p:stCondLst>
                                            <p:cond delay="0"/>
                                          </p:stCondLst>
                                        </p:cTn>
                                        <p:tgtEl>
                                          <p:spTgt spid="190"/>
                                        </p:tgtEl>
                                        <p:attrNameLst>
                                          <p:attrName>style.visibility</p:attrName>
                                        </p:attrNameLst>
                                      </p:cBhvr>
                                      <p:to>
                                        <p:strVal val="visible"/>
                                      </p:to>
                                    </p:set>
                                    <p:anim calcmode="lin" valueType="num">
                                      <p:cBhvr additive="base">
                                        <p:cTn id="10" dur="500"/>
                                        <p:tgtEl>
                                          <p:spTgt spid="190"/>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86">
          <a:extLst>
            <a:ext uri="{FF2B5EF4-FFF2-40B4-BE49-F238E27FC236}">
              <a16:creationId xmlns:a16="http://schemas.microsoft.com/office/drawing/2014/main" id="{0006CA58-B7E0-0C7C-72D7-8AEE778F56E9}"/>
            </a:ext>
          </a:extLst>
        </p:cNvPr>
        <p:cNvGrpSpPr/>
        <p:nvPr/>
      </p:nvGrpSpPr>
      <p:grpSpPr>
        <a:xfrm>
          <a:off x="0" y="0"/>
          <a:ext cx="0" cy="0"/>
          <a:chOff x="0" y="0"/>
          <a:chExt cx="0" cy="0"/>
        </a:xfrm>
      </p:grpSpPr>
      <p:grpSp>
        <p:nvGrpSpPr>
          <p:cNvPr id="190" name="Google Shape;190;p5">
            <a:extLst>
              <a:ext uri="{FF2B5EF4-FFF2-40B4-BE49-F238E27FC236}">
                <a16:creationId xmlns:a16="http://schemas.microsoft.com/office/drawing/2014/main" id="{840A3507-EEBA-C81B-45BC-ECA6F1EE4341}"/>
              </a:ext>
            </a:extLst>
          </p:cNvPr>
          <p:cNvGrpSpPr/>
          <p:nvPr/>
        </p:nvGrpSpPr>
        <p:grpSpPr>
          <a:xfrm>
            <a:off x="1670730" y="1263299"/>
            <a:ext cx="8616270" cy="1007332"/>
            <a:chOff x="3129129" y="1121776"/>
            <a:chExt cx="5933741" cy="1171624"/>
          </a:xfrm>
        </p:grpSpPr>
        <p:sp>
          <p:nvSpPr>
            <p:cNvPr id="191" name="Google Shape;191;p5">
              <a:extLst>
                <a:ext uri="{FF2B5EF4-FFF2-40B4-BE49-F238E27FC236}">
                  <a16:creationId xmlns:a16="http://schemas.microsoft.com/office/drawing/2014/main" id="{3544174A-DD58-328E-6A81-CBB526267D0D}"/>
                </a:ext>
              </a:extLst>
            </p:cNvPr>
            <p:cNvSpPr/>
            <p:nvPr/>
          </p:nvSpPr>
          <p:spPr>
            <a:xfrm>
              <a:off x="3129129" y="1121776"/>
              <a:ext cx="5933741" cy="1171624"/>
            </a:xfrm>
            <a:prstGeom prst="roundRect">
              <a:avLst>
                <a:gd name="adj" fmla="val 50000"/>
              </a:avLst>
            </a:prstGeom>
            <a:solidFill>
              <a:srgbClr val="D8D8D8">
                <a:alpha val="49803"/>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rgbClr val="FFAA2D"/>
                </a:solidFill>
                <a:latin typeface="Arial"/>
                <a:ea typeface="Arial"/>
                <a:cs typeface="Arial"/>
                <a:sym typeface="Arial"/>
              </a:endParaRPr>
            </a:p>
          </p:txBody>
        </p:sp>
        <p:sp>
          <p:nvSpPr>
            <p:cNvPr id="192" name="Google Shape;192;p5">
              <a:extLst>
                <a:ext uri="{FF2B5EF4-FFF2-40B4-BE49-F238E27FC236}">
                  <a16:creationId xmlns:a16="http://schemas.microsoft.com/office/drawing/2014/main" id="{24918B20-F371-6694-FD5A-C6CE78BBFD0E}"/>
                </a:ext>
              </a:extLst>
            </p:cNvPr>
            <p:cNvSpPr/>
            <p:nvPr/>
          </p:nvSpPr>
          <p:spPr>
            <a:xfrm>
              <a:off x="3289330" y="1253414"/>
              <a:ext cx="5613340" cy="908350"/>
            </a:xfrm>
            <a:prstGeom prst="roundRect">
              <a:avLst>
                <a:gd name="adj" fmla="val 50000"/>
              </a:avLst>
            </a:prstGeom>
            <a:gradFill>
              <a:gsLst>
                <a:gs pos="0">
                  <a:srgbClr val="FFAA2D"/>
                </a:gs>
                <a:gs pos="100000">
                  <a:srgbClr val="FFD393"/>
                </a:gs>
              </a:gsLst>
              <a:lin ang="0" scaled="0"/>
            </a:gradFill>
            <a:ln w="19050" cap="flat" cmpd="sng">
              <a:solidFill>
                <a:srgbClr val="BFBFB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rgbClr val="FFAA2D"/>
                </a:solidFill>
                <a:latin typeface="Arial"/>
                <a:ea typeface="Arial"/>
                <a:cs typeface="Arial"/>
                <a:sym typeface="Arial"/>
              </a:endParaRPr>
            </a:p>
          </p:txBody>
        </p:sp>
      </p:grpSp>
      <p:grpSp>
        <p:nvGrpSpPr>
          <p:cNvPr id="193" name="Google Shape;193;p5">
            <a:extLst>
              <a:ext uri="{FF2B5EF4-FFF2-40B4-BE49-F238E27FC236}">
                <a16:creationId xmlns:a16="http://schemas.microsoft.com/office/drawing/2014/main" id="{771BEDFD-70C6-E06D-3A93-132034D14DC0}"/>
              </a:ext>
            </a:extLst>
          </p:cNvPr>
          <p:cNvGrpSpPr/>
          <p:nvPr/>
        </p:nvGrpSpPr>
        <p:grpSpPr>
          <a:xfrm>
            <a:off x="1782659" y="1240148"/>
            <a:ext cx="1674310" cy="1522886"/>
            <a:chOff x="3020983" y="881796"/>
            <a:chExt cx="2097410" cy="2097410"/>
          </a:xfrm>
        </p:grpSpPr>
        <p:grpSp>
          <p:nvGrpSpPr>
            <p:cNvPr id="194" name="Google Shape;194;p5">
              <a:extLst>
                <a:ext uri="{FF2B5EF4-FFF2-40B4-BE49-F238E27FC236}">
                  <a16:creationId xmlns:a16="http://schemas.microsoft.com/office/drawing/2014/main" id="{B9CB5E87-9B38-3F49-D2FF-B269AC203823}"/>
                </a:ext>
              </a:extLst>
            </p:cNvPr>
            <p:cNvGrpSpPr/>
            <p:nvPr/>
          </p:nvGrpSpPr>
          <p:grpSpPr>
            <a:xfrm>
              <a:off x="3020983" y="881796"/>
              <a:ext cx="2097410" cy="2097410"/>
              <a:chOff x="3099689" y="1098878"/>
              <a:chExt cx="1995612" cy="1995615"/>
            </a:xfrm>
          </p:grpSpPr>
          <p:grpSp>
            <p:nvGrpSpPr>
              <p:cNvPr id="195" name="Google Shape;195;p5">
                <a:extLst>
                  <a:ext uri="{FF2B5EF4-FFF2-40B4-BE49-F238E27FC236}">
                    <a16:creationId xmlns:a16="http://schemas.microsoft.com/office/drawing/2014/main" id="{A9A754BF-421D-1546-5C6C-7B31A547DE50}"/>
                  </a:ext>
                </a:extLst>
              </p:cNvPr>
              <p:cNvGrpSpPr/>
              <p:nvPr/>
            </p:nvGrpSpPr>
            <p:grpSpPr>
              <a:xfrm>
                <a:off x="3099689" y="1098878"/>
                <a:ext cx="1995612" cy="1995615"/>
                <a:chOff x="6804316" y="2574806"/>
                <a:chExt cx="3585705" cy="3585705"/>
              </a:xfrm>
            </p:grpSpPr>
            <p:sp>
              <p:nvSpPr>
                <p:cNvPr id="196" name="Google Shape;196;p5">
                  <a:extLst>
                    <a:ext uri="{FF2B5EF4-FFF2-40B4-BE49-F238E27FC236}">
                      <a16:creationId xmlns:a16="http://schemas.microsoft.com/office/drawing/2014/main" id="{80DBE5DE-F448-2A5B-B960-06243E1173F8}"/>
                    </a:ext>
                  </a:extLst>
                </p:cNvPr>
                <p:cNvSpPr/>
                <p:nvPr/>
              </p:nvSpPr>
              <p:spPr>
                <a:xfrm rot="-2700000">
                  <a:off x="7501948" y="2927402"/>
                  <a:ext cx="2190440" cy="2880512"/>
                </a:xfrm>
                <a:custGeom>
                  <a:avLst/>
                  <a:gdLst/>
                  <a:ahLst/>
                  <a:cxnLst/>
                  <a:rect l="l" t="t" r="r" b="b"/>
                  <a:pathLst>
                    <a:path w="1696474" h="2070736" extrusionOk="0">
                      <a:moveTo>
                        <a:pt x="13249" y="1035368"/>
                      </a:moveTo>
                      <a:cubicBezTo>
                        <a:pt x="112309" y="471170"/>
                        <a:pt x="388098" y="0"/>
                        <a:pt x="850497" y="0"/>
                      </a:cubicBezTo>
                      <a:cubicBezTo>
                        <a:pt x="1312896" y="0"/>
                        <a:pt x="1611545" y="478790"/>
                        <a:pt x="1687745" y="1035368"/>
                      </a:cubicBezTo>
                      <a:cubicBezTo>
                        <a:pt x="1765308" y="1601901"/>
                        <a:pt x="1312896" y="2070736"/>
                        <a:pt x="850497" y="2070736"/>
                      </a:cubicBezTo>
                      <a:cubicBezTo>
                        <a:pt x="388098" y="2070736"/>
                        <a:pt x="-85811" y="1599566"/>
                        <a:pt x="13249" y="1035368"/>
                      </a:cubicBezTo>
                      <a:close/>
                    </a:path>
                  </a:pathLst>
                </a:custGeom>
                <a:gradFill>
                  <a:gsLst>
                    <a:gs pos="0">
                      <a:schemeClr val="dk1"/>
                    </a:gs>
                    <a:gs pos="17000">
                      <a:srgbClr val="000000">
                        <a:alpha val="45882"/>
                      </a:srgbClr>
                    </a:gs>
                    <a:gs pos="34000">
                      <a:srgbClr val="000000">
                        <a:alpha val="42745"/>
                      </a:srgbClr>
                    </a:gs>
                    <a:gs pos="51000">
                      <a:srgbClr val="000000">
                        <a:alpha val="20000"/>
                      </a:srgbClr>
                    </a:gs>
                    <a:gs pos="65000">
                      <a:srgbClr val="000000">
                        <a:alpha val="9803"/>
                      </a:srgbClr>
                    </a:gs>
                    <a:gs pos="78000">
                      <a:srgbClr val="000000">
                        <a:alpha val="4705"/>
                      </a:srgbClr>
                    </a:gs>
                    <a:gs pos="100000">
                      <a:srgbClr val="000000">
                        <a:alpha val="0"/>
                      </a:srgbClr>
                    </a:gs>
                  </a:gsLst>
                  <a:lin ang="54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chemeClr val="lt1"/>
                    </a:solidFill>
                    <a:latin typeface="Arial"/>
                    <a:ea typeface="Arial"/>
                    <a:cs typeface="Arial"/>
                    <a:sym typeface="Arial"/>
                  </a:endParaRPr>
                </a:p>
              </p:txBody>
            </p:sp>
            <p:sp>
              <p:nvSpPr>
                <p:cNvPr id="197" name="Google Shape;197;p5">
                  <a:extLst>
                    <a:ext uri="{FF2B5EF4-FFF2-40B4-BE49-F238E27FC236}">
                      <a16:creationId xmlns:a16="http://schemas.microsoft.com/office/drawing/2014/main" id="{ED23395A-AF2E-B9D2-5D80-D93DA7BE7FDA}"/>
                    </a:ext>
                  </a:extLst>
                </p:cNvPr>
                <p:cNvSpPr/>
                <p:nvPr/>
              </p:nvSpPr>
              <p:spPr>
                <a:xfrm>
                  <a:off x="7567583" y="3243359"/>
                  <a:ext cx="1344545" cy="1344543"/>
                </a:xfrm>
                <a:prstGeom prst="ellipse">
                  <a:avLst/>
                </a:prstGeom>
                <a:gradFill>
                  <a:gsLst>
                    <a:gs pos="0">
                      <a:srgbClr val="FFFFFF">
                        <a:alpha val="98823"/>
                      </a:srgbClr>
                    </a:gs>
                    <a:gs pos="43000">
                      <a:srgbClr val="F7F7F7"/>
                    </a:gs>
                    <a:gs pos="100000">
                      <a:srgbClr val="B8C0C0"/>
                    </a:gs>
                  </a:gsLst>
                  <a:lin ang="2700000" scaled="0"/>
                </a:gradFill>
                <a:ln>
                  <a:noFill/>
                </a:ln>
                <a:effectLst>
                  <a:outerShdw blurRad="139700" dist="88900" dir="2700000" algn="tl" rotWithShape="0">
                    <a:srgbClr val="494949">
                      <a:alpha val="29803"/>
                    </a:srgb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chemeClr val="lt1"/>
                    </a:solidFill>
                    <a:latin typeface="Arial"/>
                    <a:ea typeface="Arial"/>
                    <a:cs typeface="Arial"/>
                    <a:sym typeface="Arial"/>
                  </a:endParaRPr>
                </a:p>
              </p:txBody>
            </p:sp>
            <p:sp>
              <p:nvSpPr>
                <p:cNvPr id="198" name="Google Shape;198;p5">
                  <a:extLst>
                    <a:ext uri="{FF2B5EF4-FFF2-40B4-BE49-F238E27FC236}">
                      <a16:creationId xmlns:a16="http://schemas.microsoft.com/office/drawing/2014/main" id="{50B97483-4F35-DE4B-0AA2-B90A8FCE7D0C}"/>
                    </a:ext>
                  </a:extLst>
                </p:cNvPr>
                <p:cNvSpPr/>
                <p:nvPr/>
              </p:nvSpPr>
              <p:spPr>
                <a:xfrm>
                  <a:off x="7380501" y="3019185"/>
                  <a:ext cx="1596494" cy="1596494"/>
                </a:xfrm>
                <a:prstGeom prst="ellipse">
                  <a:avLst/>
                </a:prstGeom>
                <a:gradFill>
                  <a:gsLst>
                    <a:gs pos="0">
                      <a:srgbClr val="FFFFFF">
                        <a:alpha val="98823"/>
                      </a:srgbClr>
                    </a:gs>
                    <a:gs pos="11000">
                      <a:srgbClr val="FFFFFF">
                        <a:alpha val="98823"/>
                      </a:srgbClr>
                    </a:gs>
                    <a:gs pos="39000">
                      <a:schemeClr val="lt1"/>
                    </a:gs>
                    <a:gs pos="52999">
                      <a:srgbClr val="F7F7F7"/>
                    </a:gs>
                    <a:gs pos="100000">
                      <a:srgbClr val="B8C0C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chemeClr val="lt1"/>
                    </a:solidFill>
                    <a:latin typeface="Arial"/>
                    <a:ea typeface="Arial"/>
                    <a:cs typeface="Arial"/>
                    <a:sym typeface="Arial"/>
                  </a:endParaRPr>
                </a:p>
              </p:txBody>
            </p:sp>
          </p:grpSp>
          <p:sp>
            <p:nvSpPr>
              <p:cNvPr id="199" name="Google Shape;199;p5">
                <a:extLst>
                  <a:ext uri="{FF2B5EF4-FFF2-40B4-BE49-F238E27FC236}">
                    <a16:creationId xmlns:a16="http://schemas.microsoft.com/office/drawing/2014/main" id="{46E2CE23-DF16-2EA7-46EF-38BCA8C9037B}"/>
                  </a:ext>
                </a:extLst>
              </p:cNvPr>
              <p:cNvSpPr/>
              <p:nvPr/>
            </p:nvSpPr>
            <p:spPr>
              <a:xfrm>
                <a:off x="3222820" y="1148080"/>
                <a:ext cx="1284820" cy="1284821"/>
              </a:xfrm>
              <a:prstGeom prst="ellipse">
                <a:avLst/>
              </a:prstGeom>
              <a:solidFill>
                <a:schemeClr val="lt1">
                  <a:alpha val="13725"/>
                </a:schemeClr>
              </a:solidFill>
              <a:ln w="15875" cap="flat" cmpd="sng">
                <a:solidFill>
                  <a:schemeClr val="lt1"/>
                </a:solidFill>
                <a:prstDash val="solid"/>
                <a:miter lim="800000"/>
                <a:headEnd type="none" w="sm" len="sm"/>
                <a:tailEnd type="none" w="sm" len="sm"/>
              </a:ln>
              <a:effectLst>
                <a:outerShdw blurRad="215900" dist="88900" dir="2700000" algn="tl" rotWithShape="0">
                  <a:srgbClr val="000000">
                    <a:alpha val="10980"/>
                  </a:srgb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2800">
                  <a:solidFill>
                    <a:schemeClr val="lt1"/>
                  </a:solidFill>
                  <a:latin typeface="Arial"/>
                  <a:ea typeface="Arial"/>
                  <a:cs typeface="Arial"/>
                  <a:sym typeface="Arial"/>
                </a:endParaRPr>
              </a:p>
            </p:txBody>
          </p:sp>
        </p:grpSp>
        <p:sp>
          <p:nvSpPr>
            <p:cNvPr id="200" name="Google Shape;200;p5">
              <a:extLst>
                <a:ext uri="{FF2B5EF4-FFF2-40B4-BE49-F238E27FC236}">
                  <a16:creationId xmlns:a16="http://schemas.microsoft.com/office/drawing/2014/main" id="{7C55004B-E236-D94E-5F0A-5AAC9C399795}"/>
                </a:ext>
              </a:extLst>
            </p:cNvPr>
            <p:cNvSpPr txBox="1"/>
            <p:nvPr/>
          </p:nvSpPr>
          <p:spPr>
            <a:xfrm>
              <a:off x="3514455" y="1292811"/>
              <a:ext cx="774240" cy="7206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solidFill>
                    <a:srgbClr val="FFB850"/>
                  </a:solidFill>
                  <a:latin typeface="Impact"/>
                  <a:ea typeface="Impact"/>
                  <a:cs typeface="Impact"/>
                  <a:sym typeface="Impact"/>
                </a:rPr>
                <a:t>02</a:t>
              </a:r>
              <a:endParaRPr sz="2800" dirty="0">
                <a:solidFill>
                  <a:srgbClr val="FFB850"/>
                </a:solidFill>
                <a:latin typeface="Impact"/>
                <a:ea typeface="Impact"/>
                <a:cs typeface="Impact"/>
                <a:sym typeface="Impact"/>
              </a:endParaRPr>
            </a:p>
          </p:txBody>
        </p:sp>
      </p:grpSp>
      <p:sp>
        <p:nvSpPr>
          <p:cNvPr id="201" name="Google Shape;201;p5">
            <a:extLst>
              <a:ext uri="{FF2B5EF4-FFF2-40B4-BE49-F238E27FC236}">
                <a16:creationId xmlns:a16="http://schemas.microsoft.com/office/drawing/2014/main" id="{11DC5201-46BF-2240-3AE1-B9789DDBD96D}"/>
              </a:ext>
            </a:extLst>
          </p:cNvPr>
          <p:cNvSpPr txBox="1"/>
          <p:nvPr/>
        </p:nvSpPr>
        <p:spPr>
          <a:xfrm>
            <a:off x="2980807" y="1521544"/>
            <a:ext cx="6905838"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dirty="0">
                <a:solidFill>
                  <a:srgbClr val="FFC000"/>
                </a:solidFill>
                <a:highlight>
                  <a:srgbClr val="008080"/>
                </a:highlight>
                <a:latin typeface="Times New Roman"/>
                <a:ea typeface="Times New Roman"/>
                <a:cs typeface="Times New Roman"/>
                <a:sym typeface="Times New Roman"/>
              </a:rPr>
              <a:t>Monolith </a:t>
            </a:r>
            <a:r>
              <a:rPr lang="en-US" sz="2800" b="1" dirty="0" err="1">
                <a:solidFill>
                  <a:srgbClr val="FFC000"/>
                </a:solidFill>
                <a:highlight>
                  <a:srgbClr val="008080"/>
                </a:highlight>
                <a:latin typeface="Times New Roman"/>
                <a:ea typeface="Times New Roman"/>
                <a:cs typeface="Times New Roman"/>
                <a:sym typeface="Times New Roman"/>
              </a:rPr>
              <a:t>và</a:t>
            </a:r>
            <a:r>
              <a:rPr lang="en-US" sz="2800" b="1" dirty="0">
                <a:solidFill>
                  <a:srgbClr val="FFC000"/>
                </a:solidFill>
                <a:highlight>
                  <a:srgbClr val="008080"/>
                </a:highlight>
                <a:latin typeface="Times New Roman"/>
                <a:ea typeface="Times New Roman"/>
                <a:cs typeface="Times New Roman"/>
                <a:sym typeface="Times New Roman"/>
              </a:rPr>
              <a:t> Microservice</a:t>
            </a:r>
          </a:p>
        </p:txBody>
      </p:sp>
      <p:pic>
        <p:nvPicPr>
          <p:cNvPr id="2050" name="Picture 2" descr="Monolithic là gì? So sánh monolithic vs microservices">
            <a:extLst>
              <a:ext uri="{FF2B5EF4-FFF2-40B4-BE49-F238E27FC236}">
                <a16:creationId xmlns:a16="http://schemas.microsoft.com/office/drawing/2014/main" id="{A17B1BE1-33D3-6B18-D922-218A8F5C248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12204" y="2611599"/>
            <a:ext cx="6133322" cy="32223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109129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93"/>
                                        </p:tgtEl>
                                        <p:attrNameLst>
                                          <p:attrName>style.visibility</p:attrName>
                                        </p:attrNameLst>
                                      </p:cBhvr>
                                      <p:to>
                                        <p:strVal val="visible"/>
                                      </p:to>
                                    </p:set>
                                    <p:anim calcmode="lin" valueType="num">
                                      <p:cBhvr additive="base">
                                        <p:cTn id="7" dur="500"/>
                                        <p:tgtEl>
                                          <p:spTgt spid="193"/>
                                        </p:tgtEl>
                                        <p:attrNameLst>
                                          <p:attrName>ppt_x</p:attrName>
                                        </p:attrNameLst>
                                      </p:cBhvr>
                                      <p:tavLst>
                                        <p:tav tm="0">
                                          <p:val>
                                            <p:strVal val="#ppt_x-1"/>
                                          </p:val>
                                        </p:tav>
                                        <p:tav tm="100000">
                                          <p:val>
                                            <p:strVal val="#ppt_x"/>
                                          </p:val>
                                        </p:tav>
                                      </p:tavLst>
                                    </p:anim>
                                  </p:childTnLst>
                                </p:cTn>
                              </p:par>
                              <p:par>
                                <p:cTn id="8" presetID="2" presetClass="entr" presetSubtype="2" fill="hold" nodeType="withEffect">
                                  <p:stCondLst>
                                    <p:cond delay="0"/>
                                  </p:stCondLst>
                                  <p:childTnLst>
                                    <p:set>
                                      <p:cBhvr>
                                        <p:cTn id="9" dur="1" fill="hold">
                                          <p:stCondLst>
                                            <p:cond delay="0"/>
                                          </p:stCondLst>
                                        </p:cTn>
                                        <p:tgtEl>
                                          <p:spTgt spid="190"/>
                                        </p:tgtEl>
                                        <p:attrNameLst>
                                          <p:attrName>style.visibility</p:attrName>
                                        </p:attrNameLst>
                                      </p:cBhvr>
                                      <p:to>
                                        <p:strVal val="visible"/>
                                      </p:to>
                                    </p:set>
                                    <p:anim calcmode="lin" valueType="num">
                                      <p:cBhvr additive="base">
                                        <p:cTn id="10" dur="500"/>
                                        <p:tgtEl>
                                          <p:spTgt spid="190"/>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Facet</Template>
  <TotalTime>2526</TotalTime>
  <Words>149</Words>
  <Application>Microsoft Office PowerPoint</Application>
  <PresentationFormat>Widescreen</PresentationFormat>
  <Paragraphs>19</Paragraphs>
  <Slides>5</Slides>
  <Notes>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vt:i4>
      </vt:variant>
    </vt:vector>
  </HeadingPairs>
  <TitlesOfParts>
    <vt:vector size="12" baseType="lpstr">
      <vt:lpstr>Impact</vt:lpstr>
      <vt:lpstr>Times New Roman</vt:lpstr>
      <vt:lpstr>Arial</vt:lpstr>
      <vt:lpstr>Calibri</vt:lpstr>
      <vt:lpstr>Wingdings 3</vt:lpstr>
      <vt:lpstr>Trebuchet MS</vt:lpstr>
      <vt:lpstr>Facet</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Nguyễn Lộc</cp:lastModifiedBy>
  <cp:revision>33</cp:revision>
  <dcterms:created xsi:type="dcterms:W3CDTF">2020-08-07T13:14:06Z</dcterms:created>
  <dcterms:modified xsi:type="dcterms:W3CDTF">2024-12-03T15:40:37Z</dcterms:modified>
</cp:coreProperties>
</file>