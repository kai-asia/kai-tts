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10"/>
  </p:notesMasterIdLst>
  <p:sldIdLst>
    <p:sldId id="256" r:id="rId2"/>
    <p:sldId id="257" r:id="rId3"/>
    <p:sldId id="260" r:id="rId4"/>
    <p:sldId id="272" r:id="rId5"/>
    <p:sldId id="261" r:id="rId6"/>
    <p:sldId id="273" r:id="rId7"/>
    <p:sldId id="274" r:id="rId8"/>
    <p:sldId id="271" r:id="rId9"/>
  </p:sldIdLst>
  <p:sldSz cx="12192000" cy="6858000"/>
  <p:notesSz cx="6858000" cy="9144000"/>
  <p:embeddedFontLst>
    <p:embeddedFont>
      <p:font typeface="Impact" panose="020B0806030902050204" pitchFamily="34" charset="0"/>
      <p:regular r:id="rId11"/>
    </p:embeddedFont>
    <p:embeddedFont>
      <p:font typeface="Trebuchet MS" panose="020B0603020202020204" pitchFamily="34" charset="0"/>
      <p:regular r:id="rId12"/>
      <p:bold r:id="rId13"/>
      <p:italic r:id="rId14"/>
      <p:boldItalic r:id="rId15"/>
    </p:embeddedFont>
    <p:embeddedFont>
      <p:font typeface="Wingdings 3" panose="05040102010807070707" pitchFamily="18" charset="2"/>
      <p:regular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0" roundtripDataSignature="AMtx7mhrTw11pZgumZFE/jrXWOBqTLd8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1F6B73-016E-4EF7-82AD-10CAB8160629}">
  <a:tblStyle styleId="{791F6B73-016E-4EF7-82AD-10CAB81606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snapToGrid="0">
      <p:cViewPr varScale="1">
        <p:scale>
          <a:sx n="107" d="100"/>
          <a:sy n="107" d="100"/>
        </p:scale>
        <p:origin x="732"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6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6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60" Type="http://customschemas.google.com/relationships/presentationmetadata" Target="metadata"/><Relationship Id="rId10" Type="http://schemas.openxmlformats.org/officeDocument/2006/relationships/notesMaster" Target="notesMasters/notesMaster1.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012DA65-1E18-1E92-79D1-364616551E6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73812A20-E175-3189-8794-1B606F1F9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3F2F203D-3BF2-4BE9-647F-8E045AD34D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0538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CB2DC24-8026-55B8-CA43-E964DE53A64E}"/>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F28F591-4165-F8BF-083C-57C3F5B1DD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0E35050C-F409-147E-0FC6-2202342442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9982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37D27F3-CAF2-777E-68C8-2A402162EF92}"/>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5A032BC9-B4BE-A901-C8B0-1F257479D9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D3943BE2-0DA3-700A-2FEF-7548401192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7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0F0CF60C-B310-5163-7DC8-1C4BCEBE55E4}"/>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DB241F7A-951B-34F4-37BE-8EAC0C0981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D80FA1E5-1812-4271-3C7B-42EE49F2B3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24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8CE3D3F-5609-D9CA-F9A3-EABD8AE349E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530C47C0-905F-F6CF-ED02-7416DC61D1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EEB54981-97A9-E7AA-8BBE-20DB609583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670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956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006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2065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6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4046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534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61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55933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595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0130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911702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65960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41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34680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2070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210443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6339700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
          <p:cNvSpPr txBox="1"/>
          <p:nvPr/>
        </p:nvSpPr>
        <p:spPr>
          <a:xfrm>
            <a:off x="1676400" y="2819400"/>
            <a:ext cx="89154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0" i="0" u="none" strike="noStrike" cap="none" dirty="0">
                <a:solidFill>
                  <a:srgbClr val="154A8D"/>
                </a:solidFill>
                <a:latin typeface="Arial"/>
                <a:ea typeface="Arial"/>
                <a:cs typeface="Arial"/>
                <a:sym typeface="Arial"/>
              </a:rPr>
              <a:t>Java Backend</a:t>
            </a:r>
            <a:endParaRPr sz="6000" b="0" i="0" u="none" strike="noStrike" cap="none" dirty="0">
              <a:solidFill>
                <a:srgbClr val="154A8D"/>
              </a:solidFill>
              <a:latin typeface="Arial"/>
              <a:ea typeface="Arial"/>
              <a:cs typeface="Arial"/>
              <a:sym typeface="Arial"/>
            </a:endParaRPr>
          </a:p>
        </p:txBody>
      </p:sp>
      <p:pic>
        <p:nvPicPr>
          <p:cNvPr id="66" name="Google Shape;66;p1"/>
          <p:cNvPicPr preferRelativeResize="0"/>
          <p:nvPr/>
        </p:nvPicPr>
        <p:blipFill rotWithShape="1">
          <a:blip r:embed="rId3">
            <a:alphaModFix/>
          </a:blip>
          <a:srcRect/>
          <a:stretch/>
        </p:blipFill>
        <p:spPr>
          <a:xfrm>
            <a:off x="5162022" y="914400"/>
            <a:ext cx="7445124" cy="50292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w="2222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w="222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663A77"/>
                  </a:solidFill>
                  <a:latin typeface="Times New Roman"/>
                  <a:ea typeface="Times New Roman"/>
                  <a:cs typeface="Times New Roman"/>
                  <a:sym typeface="Times New Roman"/>
                </a:rPr>
                <a:t>NỘI DUNG</a:t>
              </a:r>
              <a:endParaRPr sz="2800" b="1" i="0" u="none" strike="noStrike" cap="non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name="adj" fmla="val 13889"/>
                </a:avLst>
              </a:prstGeom>
              <a:solidFill>
                <a:srgbClr val="FFB8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01</a:t>
              </a:r>
              <a:endParaRPr sz="2800" b="0" i="0" u="none" strike="noStrike" cap="non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name="adj" fmla="val 13889"/>
                </a:avLst>
              </a:prstGeom>
              <a:solidFill>
                <a:srgbClr val="01ACB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02</a:t>
              </a:r>
              <a:endParaRPr sz="2800" b="0" i="0" u="none" strike="noStrike" cap="non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name="adj" fmla="val 13889"/>
                </a:avLst>
              </a:prstGeom>
              <a:solidFill>
                <a:srgbClr val="E870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03</a:t>
              </a:r>
              <a:endParaRPr sz="2800" b="0" i="0" u="none" strike="noStrike" cap="non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3">
              <a:alphaModFix/>
            </a:blip>
            <a:srcRect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3">
                <a:alphaModFix/>
              </a:blip>
              <a:srcRect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3">
              <a:alphaModFix/>
            </a:blip>
            <a:srcRect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3">
                <a:alphaModFix/>
              </a:blip>
              <a:srcRect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3">
              <a:alphaModFix/>
            </a:blip>
            <a:srcRect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3">
                <a:alphaModFix/>
              </a:blip>
              <a:srcRect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4" name="Google Shape;114;p2"/>
          <p:cNvGrpSpPr/>
          <p:nvPr/>
        </p:nvGrpSpPr>
        <p:grpSpPr>
          <a:xfrm>
            <a:off x="3287073" y="4082877"/>
            <a:ext cx="6504673" cy="675771"/>
            <a:chOff x="4555085" y="4807551"/>
            <a:chExt cx="4697323" cy="974449"/>
          </a:xfrm>
        </p:grpSpPr>
        <p:pic>
          <p:nvPicPr>
            <p:cNvPr id="115" name="Google Shape;115;p2"/>
            <p:cNvPicPr preferRelativeResize="0"/>
            <p:nvPr/>
          </p:nvPicPr>
          <p:blipFill rotWithShape="1">
            <a:blip r:embed="rId3">
              <a:alphaModFix/>
            </a:blip>
            <a:srcRect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3">
                <a:alphaModFix/>
              </a:blip>
              <a:srcRect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199307"/>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FFC000"/>
                </a:solidFill>
                <a:latin typeface="Times New Roman"/>
                <a:ea typeface="Times New Roman"/>
                <a:cs typeface="Times New Roman"/>
                <a:sym typeface="Times New Roman"/>
              </a:rPr>
              <a:t>Redis</a:t>
            </a:r>
            <a:endParaRPr sz="2800" b="1" dirty="0">
              <a:solidFill>
                <a:srgbClr val="FFC000"/>
              </a:solidFill>
              <a:latin typeface="Times New Roman"/>
              <a:ea typeface="Times New Roman"/>
              <a:cs typeface="Times New Roman"/>
              <a:sym typeface="Times New Roman"/>
            </a:endParaRPr>
          </a:p>
        </p:txBody>
      </p:sp>
      <p:sp>
        <p:nvSpPr>
          <p:cNvPr id="129" name="Google Shape;129;p2"/>
          <p:cNvSpPr/>
          <p:nvPr/>
        </p:nvSpPr>
        <p:spPr>
          <a:xfrm>
            <a:off x="3321731" y="2471629"/>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Kafka</a:t>
            </a:r>
            <a:endParaRPr sz="2800" b="1" dirty="0">
              <a:solidFill>
                <a:srgbClr val="01ACBE"/>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663A77"/>
                </a:solidFill>
                <a:latin typeface="Times New Roman"/>
                <a:ea typeface="Times New Roman"/>
                <a:cs typeface="Times New Roman"/>
                <a:sym typeface="Times New Roman"/>
              </a:rPr>
              <a:t> </a:t>
            </a:r>
            <a:endParaRPr sz="2800" b="1" dirty="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name="adj" fmla="val 13889"/>
                </a:avLst>
              </a:prstGeom>
              <a:solidFill>
                <a:srgbClr val="663A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sp>
        <p:nvSpPr>
          <p:cNvPr id="2" name="Google Shape;129;p2">
            <a:extLst>
              <a:ext uri="{FF2B5EF4-FFF2-40B4-BE49-F238E27FC236}">
                <a16:creationId xmlns:a16="http://schemas.microsoft.com/office/drawing/2014/main" id="{859E21FA-6F72-BF26-BDC1-D4107831E554}"/>
              </a:ext>
            </a:extLst>
          </p:cNvPr>
          <p:cNvSpPr/>
          <p:nvPr/>
        </p:nvSpPr>
        <p:spPr>
          <a:xfrm>
            <a:off x="3287073" y="3230664"/>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Message Queue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
                                        <p:tgtEl>
                                          <p:spTgt spid="75"/>
                                        </p:tgtEl>
                                        <p:attrNameLst>
                                          <p:attrName>ppt_w</p:attrName>
                                        </p:attrNameLst>
                                      </p:cBhvr>
                                      <p:tavLst>
                                        <p:tav tm="0">
                                          <p:val>
                                            <p:strVal val="0"/>
                                          </p:val>
                                        </p:tav>
                                        <p:tav tm="100000">
                                          <p:val>
                                            <p:strVal val="#ppt_w"/>
                                          </p:val>
                                        </p:tav>
                                      </p:tavLst>
                                    </p:anim>
                                    <p:anim calcmode="lin" valueType="num">
                                      <p:cBhvr additive="base">
                                        <p:cTn id="8" dur="100"/>
                                        <p:tgtEl>
                                          <p:spTgt spid="75"/>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10" presetClass="entr" presetSubtype="0" fill="hold" nodeType="after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par>
                                <p:cTn id="24" presetID="10" presetClass="entr" presetSubtype="0" fill="hold"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par>
                          <p:cTn id="27" fill="hold">
                            <p:stCondLst>
                              <p:cond delay="1600"/>
                            </p:stCondLst>
                            <p:childTnLst>
                              <p:par>
                                <p:cTn id="28" presetID="10" presetClass="entr" presetSubtype="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500"/>
                                        <p:tgtEl>
                                          <p:spTgt spid="89"/>
                                        </p:tgtEl>
                                      </p:cBhvr>
                                    </p:animEffect>
                                  </p:childTnLst>
                                </p:cTn>
                              </p:par>
                              <p:par>
                                <p:cTn id="31" presetID="10"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500"/>
                                        <p:tgtEl>
                                          <p:spTgt spid="114"/>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p:cTn id="4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Redis</a:t>
            </a:r>
            <a:endParaRPr sz="2800" b="1" dirty="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Redis lưu trữ dữ liệu dưới dạng key-value và hỗ trợ nhiều kiểu dữ liệu phức tạp để đáp ứng các nhu cầu khác nhau.</a:t>
            </a:r>
            <a:endParaRPr lang="en-US" sz="2800" b="0" i="0" dirty="0">
              <a:solidFill>
                <a:srgbClr val="222222"/>
              </a:solidFill>
              <a:effectLst/>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String (Chuỗi)</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Hash (</a:t>
            </a:r>
            <a:r>
              <a:rPr lang="en-US" sz="2800" dirty="0" err="1">
                <a:solidFill>
                  <a:schemeClr val="dk1"/>
                </a:solidFill>
                <a:latin typeface="Times New Roman" panose="02020603050405020304" pitchFamily="18" charset="0"/>
                <a:ea typeface="Times New Roman"/>
                <a:cs typeface="Times New Roman" panose="02020603050405020304" pitchFamily="18" charset="0"/>
                <a:sym typeface="Times New Roman"/>
              </a:rPr>
              <a:t>Bảng</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dirty="0" err="1">
                <a:solidFill>
                  <a:schemeClr val="dk1"/>
                </a:solidFill>
                <a:latin typeface="Times New Roman" panose="02020603050405020304" pitchFamily="18" charset="0"/>
                <a:ea typeface="Times New Roman"/>
                <a:cs typeface="Times New Roman" panose="02020603050405020304" pitchFamily="18" charset="0"/>
                <a:sym typeface="Times New Roman"/>
              </a:rPr>
              <a:t>băm</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List (Danh </a:t>
            </a:r>
            <a:r>
              <a:rPr lang="en-US" sz="2800" dirty="0" err="1">
                <a:solidFill>
                  <a:schemeClr val="dk1"/>
                </a:solidFill>
                <a:latin typeface="Times New Roman" panose="02020603050405020304" pitchFamily="18" charset="0"/>
                <a:ea typeface="Times New Roman"/>
                <a:cs typeface="Times New Roman" panose="02020603050405020304" pitchFamily="18" charset="0"/>
                <a:sym typeface="Times New Roman"/>
              </a:rPr>
              <a:t>sách</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Set (</a:t>
            </a:r>
            <a:r>
              <a:rPr lang="en-US" sz="2800" dirty="0" err="1">
                <a:solidFill>
                  <a:schemeClr val="dk1"/>
                </a:solidFill>
                <a:latin typeface="Times New Roman" panose="02020603050405020304" pitchFamily="18" charset="0"/>
                <a:ea typeface="Times New Roman"/>
                <a:cs typeface="Times New Roman" panose="02020603050405020304" pitchFamily="18" charset="0"/>
                <a:sym typeface="Times New Roman"/>
              </a:rPr>
              <a:t>Tập</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dirty="0" err="1">
                <a:solidFill>
                  <a:schemeClr val="dk1"/>
                </a:solidFill>
                <a:latin typeface="Times New Roman" panose="02020603050405020304" pitchFamily="18" charset="0"/>
                <a:ea typeface="Times New Roman"/>
                <a:cs typeface="Times New Roman" panose="02020603050405020304" pitchFamily="18" charset="0"/>
                <a:sym typeface="Times New Roman"/>
              </a:rPr>
              <a:t>hợp</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4F8522B7-E262-8E22-8A7A-D0DAD1034B9D}"/>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E5C69C13-BB4B-268D-B0EE-A9C6226647A8}"/>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E5CCABF4-09A2-D3FC-AE45-BE9A3B21DD08}"/>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1A0A3641-58CB-8BF9-DA22-BD9E5AA387EF}"/>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92B7E8B-494B-8FA9-F7A1-08C07F0DFE1C}"/>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0672639C-89F3-A9B8-145C-2B91773F197C}"/>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D96F6916-5A95-FDFB-299B-394CD3A1ED6F}"/>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F0DA2B0-5B3F-1630-C6AF-F1D46FF7BE5F}"/>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4CCF8BF-D9D9-DE0E-E5F3-E1798E716A57}"/>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1BF5FD55-91D0-17E0-68B8-90125979EA7D}"/>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9CA581B9-3A80-64AA-A04B-9DDF8ABD5885}"/>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071D37AE-61F0-7B59-E222-FA3C1E4FAFA6}"/>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0FDF46D3-4998-F154-0548-061E310D3D65}"/>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Redis</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0CC050F7-A17B-BB56-659E-187A5FC370A1}"/>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0" i="0" dirty="0" err="1">
                <a:solidFill>
                  <a:srgbClr val="222222"/>
                </a:solidFill>
                <a:effectLst/>
                <a:latin typeface="Times New Roman" panose="02020603050405020304" pitchFamily="18" charset="0"/>
                <a:cs typeface="Times New Roman" panose="02020603050405020304" pitchFamily="18" charset="0"/>
              </a:rPr>
              <a:t>Ví</a:t>
            </a:r>
            <a:r>
              <a:rPr lang="en-US"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err="1">
                <a:solidFill>
                  <a:srgbClr val="222222"/>
                </a:solidFill>
                <a:effectLst/>
                <a:latin typeface="Times New Roman" panose="02020603050405020304" pitchFamily="18" charset="0"/>
                <a:cs typeface="Times New Roman" panose="02020603050405020304" pitchFamily="18" charset="0"/>
              </a:rPr>
              <a:t>dụ</a:t>
            </a:r>
            <a:r>
              <a:rPr lang="en-US"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err="1">
                <a:solidFill>
                  <a:srgbClr val="222222"/>
                </a:solidFill>
                <a:effectLst/>
                <a:latin typeface="Times New Roman" panose="02020603050405020304" pitchFamily="18" charset="0"/>
                <a:cs typeface="Times New Roman" panose="02020603050405020304" pitchFamily="18" charset="0"/>
              </a:rPr>
              <a:t>redi</a:t>
            </a:r>
            <a:r>
              <a:rPr lang="en-US" sz="2800" dirty="0" err="1">
                <a:solidFill>
                  <a:srgbClr val="222222"/>
                </a:solidFill>
                <a:latin typeface="Times New Roman" panose="02020603050405020304" pitchFamily="18" charset="0"/>
                <a:cs typeface="Times New Roman" panose="02020603050405020304" pitchFamily="18" charset="0"/>
              </a:rPr>
              <a:t>s</a:t>
            </a:r>
            <a:r>
              <a:rPr lang="en-US" sz="2800" dirty="0">
                <a:solidFill>
                  <a:srgbClr val="222222"/>
                </a:solidFill>
                <a:latin typeface="Times New Roman" panose="02020603050405020304" pitchFamily="18" charset="0"/>
                <a:cs typeface="Times New Roman" panose="02020603050405020304" pitchFamily="18" charset="0"/>
              </a:rPr>
              <a:t> làm database (Code)</a:t>
            </a:r>
            <a:r>
              <a:rPr lang="en-US" sz="2800" dirty="0">
                <a:solidFill>
                  <a:schemeClr val="dk1"/>
                </a:solidFill>
                <a:latin typeface="Times New Roman" panose="02020603050405020304" pitchFamily="18" charset="0"/>
                <a:cs typeface="Times New Roman" panose="02020603050405020304" pitchFamily="18" charset="0"/>
                <a:sym typeface="Times New Roman"/>
              </a:rPr>
              <a:t>, caching </a:t>
            </a:r>
            <a:r>
              <a:rPr lang="en-US" sz="2800" dirty="0" err="1">
                <a:solidFill>
                  <a:schemeClr val="dk1"/>
                </a:solidFill>
                <a:latin typeface="Times New Roman" panose="02020603050405020304" pitchFamily="18" charset="0"/>
                <a:cs typeface="Times New Roman" panose="02020603050405020304" pitchFamily="18" charset="0"/>
                <a:sym typeface="Times New Roman"/>
              </a:rPr>
              <a:t>dữ</a:t>
            </a:r>
            <a:r>
              <a:rPr lang="en-US" sz="2800" dirty="0">
                <a:solidFill>
                  <a:schemeClr val="dk1"/>
                </a:solidFill>
                <a:latin typeface="Times New Roman" panose="02020603050405020304" pitchFamily="18" charset="0"/>
                <a:cs typeface="Times New Roman" panose="02020603050405020304" pitchFamily="18" charset="0"/>
                <a:sym typeface="Times New Roman"/>
              </a:rPr>
              <a:t> </a:t>
            </a:r>
            <a:r>
              <a:rPr lang="en-US" sz="2800" dirty="0" err="1">
                <a:solidFill>
                  <a:schemeClr val="dk1"/>
                </a:solidFill>
                <a:latin typeface="Times New Roman" panose="02020603050405020304" pitchFamily="18" charset="0"/>
                <a:cs typeface="Times New Roman" panose="02020603050405020304" pitchFamily="18" charset="0"/>
                <a:sym typeface="Times New Roman"/>
              </a:rPr>
              <a:t>liệu</a:t>
            </a:r>
            <a:r>
              <a:rPr lang="en-US" sz="2800" dirty="0">
                <a:solidFill>
                  <a:schemeClr val="dk1"/>
                </a:solidFill>
                <a:latin typeface="Times New Roman" panose="02020603050405020304" pitchFamily="18" charset="0"/>
                <a:cs typeface="Times New Roman" panose="02020603050405020304" pitchFamily="18" charset="0"/>
                <a:sym typeface="Times New Roman"/>
              </a:rPr>
              <a:t>, …</a:t>
            </a:r>
          </a:p>
        </p:txBody>
      </p:sp>
    </p:spTree>
    <p:extLst>
      <p:ext uri="{BB962C8B-B14F-4D97-AF65-F5344CB8AC3E}">
        <p14:creationId xmlns:p14="http://schemas.microsoft.com/office/powerpoint/2010/main" val="103941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C63AE550-75FF-625D-F6DB-893903872DB4}"/>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6CD42A5F-2E54-F217-32CD-E78B2BF6FB2B}"/>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D7289725-BD5B-6AB0-FEF8-01D06BF5C748}"/>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CC9843F6-1C78-7EA7-8740-AEADDBB069E1}"/>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AEACE206-9F6F-405C-F04F-C6D41627AB34}"/>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6DBF4E99-7EB9-8883-E213-0582C46FDAB1}"/>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42EC720A-2DC2-81B0-299F-E96EC7D69F9D}"/>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315E151F-1491-1F95-A251-60E53331A5A7}"/>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A6BE1973-3B56-9736-23C6-45B2F5A3A365}"/>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C8410AE1-9841-E3D4-0C73-8275E8D37DDD}"/>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7B0FBC1A-5640-25AA-C647-857F2E983E58}"/>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5669DAA2-492B-C9C7-B06F-4A8722D7213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8F2CA49E-5285-1F30-3255-07A735CBB28A}"/>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Kafka</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80280948-CE7F-E35B-7C88-7F395A8E43E2}"/>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1" i="0" dirty="0">
                <a:solidFill>
                  <a:srgbClr val="222222"/>
                </a:solidFill>
                <a:effectLst/>
                <a:latin typeface="Times New Roman" panose="02020603050405020304" pitchFamily="18" charset="0"/>
                <a:cs typeface="Times New Roman" panose="02020603050405020304" pitchFamily="18" charset="0"/>
              </a:rPr>
              <a:t>Apache Kafka là một hệ thống xử lý dữ liệu thời gian thực mã nguồn mở được tạo ra tại LinkedIn và sau đó đã được chuyển giao phát triển bởi Apache Software Foundation.</a:t>
            </a:r>
            <a:endParaRPr lang="en-US" sz="28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78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0430BA9-9215-47DF-AEC1-821B9AAD3ACC}"/>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276439F5-ED25-B1E8-AA00-39E82006D377}"/>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E63D2DBF-6488-B3A9-E084-ED8D497C9C4A}"/>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1E673650-0B95-801F-95AB-D3E85D1C996E}"/>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2D5D7CF-DE91-39A3-4E7F-3E3FCF6E5657}"/>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0EDAA98B-CD2A-8BDD-DE2E-79905360795A}"/>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434B2E95-4D68-4F6C-E9C3-C8F2BAEC1F9B}"/>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1B0C85D4-BB50-04E9-465A-D81BD16EEE68}"/>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37815F40-E526-3B15-E052-CC1F484C12B0}"/>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6B4F5F8A-94B4-639D-0A3B-0843BFC46A82}"/>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1CF18569-A6F6-70C5-1F24-34483FACD1C4}"/>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D11C4EFE-6D9C-8D69-E5B1-A921FABBB3A4}"/>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3F5B915-27FD-ED4A-8BD0-FE0ECBE66848}"/>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Kafka</a:t>
            </a:r>
            <a:endParaRPr sz="2800" b="1" dirty="0">
              <a:solidFill>
                <a:schemeClr val="dk1"/>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F8BCFCF9-0A24-3495-A1EB-B107FF96617B}"/>
              </a:ext>
            </a:extLst>
          </p:cNvPr>
          <p:cNvPicPr>
            <a:picLocks noChangeAspect="1"/>
          </p:cNvPicPr>
          <p:nvPr/>
        </p:nvPicPr>
        <p:blipFill>
          <a:blip r:embed="rId3"/>
          <a:stretch>
            <a:fillRect/>
          </a:stretch>
        </p:blipFill>
        <p:spPr>
          <a:xfrm>
            <a:off x="2485613" y="2362116"/>
            <a:ext cx="6748034" cy="4030941"/>
          </a:xfrm>
          <a:prstGeom prst="rect">
            <a:avLst/>
          </a:prstGeom>
        </p:spPr>
      </p:pic>
    </p:spTree>
    <p:extLst>
      <p:ext uri="{BB962C8B-B14F-4D97-AF65-F5344CB8AC3E}">
        <p14:creationId xmlns:p14="http://schemas.microsoft.com/office/powerpoint/2010/main" val="3736756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E479A60C-4DA4-EE7E-28EA-8E6B2F57D765}"/>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A13C39FC-2208-B028-E3F5-A7105AFE9E0A}"/>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FA8CB29A-EACC-0E0C-C13D-DD813540F163}"/>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E076C588-891C-97CA-DF33-DE39432EBD7C}"/>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C9E8B164-3A70-1037-78A5-0433BBE2E45E}"/>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0CD961F1-D68C-66DB-5FC2-20044B189553}"/>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F315E244-126E-235F-E8CC-90C74C3114C9}"/>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B140683-934F-C79D-7653-F6D262ADE6DF}"/>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52791FAB-E2C7-CA18-E660-83D91DC38AB9}"/>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70F9626F-A8F4-0D29-90CA-260DDFF190E2}"/>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5A860BC6-B391-D845-D3D7-8BBAB89F8E5C}"/>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DB382533-42D5-7DA9-4D9F-2D812F2958EF}"/>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B6378723-D8CE-B183-59E7-33DD3BD4B619}"/>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Kafka</a:t>
            </a:r>
            <a:endParaRPr sz="2800" b="1" dirty="0">
              <a:solidFill>
                <a:schemeClr val="dk1"/>
              </a:solidFill>
              <a:latin typeface="Times New Roman"/>
              <a:ea typeface="Times New Roman"/>
              <a:cs typeface="Times New Roman"/>
              <a:sym typeface="Times New Roman"/>
            </a:endParaRPr>
          </a:p>
        </p:txBody>
      </p:sp>
      <p:pic>
        <p:nvPicPr>
          <p:cNvPr id="3074" name="Picture 2">
            <a:extLst>
              <a:ext uri="{FF2B5EF4-FFF2-40B4-BE49-F238E27FC236}">
                <a16:creationId xmlns:a16="http://schemas.microsoft.com/office/drawing/2014/main" id="{D36F87BA-6C08-7863-9EDE-3613B7471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7" y="2983557"/>
            <a:ext cx="785812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040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006CA58-B7E0-0C7C-72D7-8AEE778F56E9}"/>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840A3507-EEBA-C81B-45BC-ECA6F1EE4341}"/>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3544174A-DD58-328E-6A81-CBB526267D0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24918B20-F371-6694-FD5A-C6CE78BBFD0E}"/>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71BEDFD-70C6-E06D-3A93-132034D14DC0}"/>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B9CB5E87-9B38-3F49-D2FF-B269AC203823}"/>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A9A754BF-421D-1546-5C6C-7B31A547DE50}"/>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80DBE5DE-F448-2A5B-B960-06243E1173F8}"/>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ED23395A-AF2E-B9D2-5D80-D93DA7BE7FDA}"/>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50B97483-4F35-DE4B-0AA2-B90A8FCE7D0C}"/>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46E2CE23-DF16-2EA7-46EF-38BCA8C9037B}"/>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7C55004B-E236-D94E-5F0A-5AAC9C399795}"/>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03</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11DC5201-46BF-2240-3AE1-B9789DDBD96D}"/>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MQ</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BF1B1862-2660-4664-4576-6BC3924BA2CF}"/>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Message Queue (MQ) là một công nghệ hỗ trợ giao tiếp giữa các ứng dụng thông qua việc gửi và nhận tin nhắn</a:t>
            </a:r>
            <a:endPar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457200" algn="l" rtl="0">
              <a:spcBef>
                <a:spcPts val="0"/>
              </a:spcBef>
              <a:spcAft>
                <a:spcPts val="0"/>
              </a:spcAft>
              <a:buFontTx/>
              <a:buChar char="-"/>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ActiveMQ, RabbitMQ, IBM MQ, …</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21091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2343</TotalTime>
  <Words>153</Words>
  <Application>Microsoft Office PowerPoint</Application>
  <PresentationFormat>Widescreen</PresentationFormat>
  <Paragraphs>28</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Impact</vt:lpstr>
      <vt:lpstr>Times New Roman</vt:lpstr>
      <vt:lpstr>Arial</vt:lpstr>
      <vt:lpstr>Calibri</vt:lpstr>
      <vt:lpstr>Wingdings 3</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Nguyễn Lộc</cp:lastModifiedBy>
  <cp:revision>32</cp:revision>
  <dcterms:created xsi:type="dcterms:W3CDTF">2020-08-07T13:14:06Z</dcterms:created>
  <dcterms:modified xsi:type="dcterms:W3CDTF">2024-12-01T11:35:44Z</dcterms:modified>
</cp:coreProperties>
</file>